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92" r:id="rId5"/>
    <p:sldId id="306" r:id="rId6"/>
    <p:sldId id="297" r:id="rId7"/>
    <p:sldId id="261" r:id="rId8"/>
    <p:sldId id="269" r:id="rId9"/>
    <p:sldId id="298" r:id="rId10"/>
    <p:sldId id="301" r:id="rId11"/>
    <p:sldId id="302" r:id="rId12"/>
    <p:sldId id="303" r:id="rId13"/>
    <p:sldId id="304" r:id="rId14"/>
    <p:sldId id="307" r:id="rId15"/>
    <p:sldId id="268" r:id="rId16"/>
    <p:sldId id="305" r:id="rId17"/>
    <p:sldId id="309" r:id="rId18"/>
    <p:sldId id="308" r:id="rId19"/>
    <p:sldId id="300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DEA"/>
    <a:srgbClr val="D6E0EB"/>
    <a:srgbClr val="FFC208"/>
    <a:srgbClr val="4CAF50"/>
    <a:srgbClr val="0D9488"/>
    <a:srgbClr val="0E243E"/>
    <a:srgbClr val="AEC1D9"/>
    <a:srgbClr val="AEC2D8"/>
    <a:srgbClr val="D84400"/>
    <a:srgbClr val="4469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74" autoAdjust="0"/>
    <p:restoredTop sz="90035" autoAdjust="0"/>
  </p:normalViewPr>
  <p:slideViewPr>
    <p:cSldViewPr snapToGrid="0" showGuides="1">
      <p:cViewPr varScale="1">
        <p:scale>
          <a:sx n="181" d="100"/>
          <a:sy n="181" d="100"/>
        </p:scale>
        <p:origin x="472" y="184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5/6/26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5/6/26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 — Title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dirty="0"/>
              <a:t>Hi everyone, this is Group 11. Today we are presenting our analysis(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əˈnaləsəs</a:t>
            </a:r>
            <a:r>
              <a:rPr lang="en-US" dirty="0"/>
              <a:t>) of Walmart retail sales performance. Using data from 45 Walmart stores between 2010 and 2012.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B58D7-A988-14B3-9CA4-542E02693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D29F6-272C-D070-9F55-95B26D760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EF3CB-5634-C37B-AA1F-2F588DD87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our research question is: </a:t>
            </a:r>
            <a:r>
              <a:rPr lang="en-US" b="1" dirty="0"/>
              <a:t>which economic and seasonal factors most significantly drive weekly sales?</a:t>
            </a:r>
            <a:r>
              <a:rPr lang="en-US" dirty="0"/>
              <a:t> To answer this, we used association analysis(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əˈnaləsəs</a:t>
            </a:r>
            <a:r>
              <a:rPr lang="en-US" dirty="0"/>
              <a:t>) to explore relationships between variables, and regression modeling to quantify their impact.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4626B-2F38-2CDC-11A4-3588B90D2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82844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comes from Kaggle	</a:t>
            </a:r>
          </a:p>
          <a:p>
            <a:r>
              <a:rPr lang="en-US" dirty="0"/>
              <a:t>we followed four main steps — data preparation, association analysis((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əˈnaləsəs</a:t>
            </a:r>
            <a:r>
              <a:rPr lang="en-US" dirty="0"/>
              <a:t>) ), regression modeling, and other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803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loading the data, we checked the total number of columns ,rows,  And missing value, outliers. </a:t>
            </a:r>
            <a:endParaRPr lang="en-US" altLang="zh-CN" dirty="0"/>
          </a:p>
          <a:p>
            <a:r>
              <a:rPr lang="zh-CN" altLang="en-US" dirty="0"/>
              <a:t>点击！ 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 converted </a:t>
            </a:r>
            <a:r>
              <a:rPr lang="en-US" dirty="0" err="1"/>
              <a:t>Holiday_Flag</a:t>
            </a:r>
            <a:r>
              <a:rPr lang="en-US" dirty="0"/>
              <a:t> and Store into factor variables. The final dataset has </a:t>
            </a:r>
            <a:r>
              <a:rPr lang="en-US" b="1" dirty="0"/>
              <a:t>6,434 complete observations</a:t>
            </a:r>
            <a:r>
              <a:rPr lang="en-US" dirty="0"/>
              <a:t> ready for analysis.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点击！ </a:t>
            </a:r>
            <a:endParaRPr lang="en-US" altLang="zh-CN" dirty="0"/>
          </a:p>
          <a:p>
            <a:endParaRPr lang="en-US" dirty="0"/>
          </a:p>
          <a:p>
            <a:r>
              <a:rPr lang="en-US" dirty="0"/>
              <a:t>The histogram shows weekly sales are right-skewed(“skilled”), with most stores generating between $500K and $2 million per week.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(we removed one row with an impossible temperature of negative 2.06 degrees Fahrenheit, 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475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response variable is Weekly Sales — the weekly revenue per store in US dollar. My five predictor variables are Holiday Flag, Temperature, Fuel (fill )Price, </a:t>
            </a:r>
            <a:r>
              <a:rPr lang="en-US" b="1" dirty="0"/>
              <a:t>Consumer Price Index</a:t>
            </a:r>
            <a:r>
              <a:rPr lang="en-US" dirty="0"/>
              <a:t>, and Unemployment Rate."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468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first association analysis(</a:t>
            </a:r>
            <a:r>
              <a:rPr lang="en-US" dirty="0"/>
              <a:t>(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əˈnaləsəs</a:t>
            </a:r>
            <a:r>
              <a:rPr lang="en-US" dirty="0"/>
              <a:t>)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Looking at Temperature versus Weekly Sales, the scatter plot shows no clear trend (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chaned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)— sales are distributed across all temperature ranges. This suggests temperature has a weak association with sales."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82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Fuel Price shows no significant association with Weekly Sales. The p-value is 0.453, </a:t>
            </a:r>
          </a:p>
          <a:p>
            <a:r>
              <a:rPr lang="en-US" dirty="0"/>
              <a:t>confirming it is the least useful predictor in this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244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CPI scatter plot shows three distinct regional clusters (</a:t>
            </a:r>
            <a:r>
              <a:rPr lang="en-US" dirty="0" err="1"/>
              <a:t>clasted</a:t>
            </a:r>
            <a:r>
              <a:rPr lang="en-US" dirty="0"/>
              <a:t>). While statistically significant with p less than 0.05, the overall relationship with weekly sales is weak."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519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"Unemployment shows the strongest negative association, with r = -0.106 and p approximately zero. A 1% rise in unemployment is associated with a $42,520 drop in weekly sales , 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largest effect among all variables."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5829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"Holiday weeks generate significantly higher sales, with a median difference of about $81,551 compared to non-holiday weeks. The association is statistically significant with p = 0.003."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418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tested three regression models. Model 1 uses only Unemployment. Model 2 uses all 5 variables. Model 3 is the reduced model using only CPI, Unemployment, and Holiday Flag. Model 2 and Model 3 have nearly identical R², RMSE, and AIC — confirming that Temperature and Fuel Price add no value. Model 3 is the best model — simpler and equally accurate."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266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detailed look at Model 3.</a:t>
            </a:r>
          </a:p>
          <a:p>
            <a:endParaRPr lang="en-US" dirty="0"/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three variables are statistically significant. 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CPI has a negative effect — a 1-unit increase is associated with a $1,652 drop in sales. 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Unemployment has the strongest effect — a 1% rise leads to a $42,520 drop. 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Holiday weeks boost sales by $84,438 on average. 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R² is 2.5%, which means macroeconomic variables alone explain only a small portion of sales variation."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1251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"We applied additional techniques including Lasso and Ridge regression. </a:t>
            </a:r>
          </a:p>
          <a:p>
            <a:endParaRPr lang="en-US" dirty="0"/>
          </a:p>
          <a:p>
            <a:r>
              <a:rPr lang="en-US" dirty="0"/>
              <a:t>Both methods achieved the same R² of 2.54% as Model 2, </a:t>
            </a:r>
          </a:p>
          <a:p>
            <a:r>
              <a:rPr lang="en-US" dirty="0"/>
              <a:t>confirming that </a:t>
            </a:r>
            <a:r>
              <a:rPr lang="en-US" b="1" dirty="0"/>
              <a:t>the predictor variables are not highly correlated with each other</a:t>
            </a:r>
            <a:r>
              <a:rPr lang="en-US" dirty="0"/>
              <a:t>,</a:t>
            </a:r>
          </a:p>
          <a:p>
            <a:r>
              <a:rPr lang="en-US" dirty="0"/>
              <a:t> and Model 3 remains the best choice. We also used a Mosaic Plot with a Chi(kai)-Square test — </a:t>
            </a:r>
          </a:p>
          <a:p>
            <a:r>
              <a:rPr lang="en-US" dirty="0"/>
              <a:t>Holiday weeks show a significantly higher proportion of above</a:t>
            </a:r>
            <a:r>
              <a:rPr lang="zh-CN" altLang="en-US" dirty="0"/>
              <a:t> </a:t>
            </a:r>
            <a:r>
              <a:rPr lang="en-US" dirty="0"/>
              <a:t>-median sales, with p = 0.036."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9367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also applied ARIMA time series forecasting .</a:t>
            </a:r>
          </a:p>
          <a:p>
            <a:r>
              <a:rPr lang="en-US" dirty="0"/>
              <a:t>The model was </a:t>
            </a:r>
            <a:r>
              <a:rPr lang="en-US" b="1" dirty="0"/>
              <a:t>automatically selected</a:t>
            </a:r>
            <a:r>
              <a:rPr lang="en-US" dirty="0"/>
              <a:t>, capturing weekly seasonal patterns. </a:t>
            </a:r>
          </a:p>
          <a:p>
            <a:r>
              <a:rPr lang="en-US" dirty="0"/>
              <a:t>The forecast predicts sales will remain stable around </a:t>
            </a:r>
            <a:r>
              <a:rPr lang="en-US" b="1" dirty="0"/>
              <a:t>one million dollars</a:t>
            </a:r>
            <a:r>
              <a:rPr lang="en-US" dirty="0"/>
              <a:t> in early 2013, </a:t>
            </a:r>
          </a:p>
          <a:p>
            <a:r>
              <a:rPr lang="en-US" dirty="0"/>
              <a:t>with a post-holiday decline consistent with patterns from 2010 and 2011."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ARIMA(1,1,1)(0,1,0)[52],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5962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"In conclusion — Model 3 is the best model among the three tested to explain weekly sales in this Walmart dataset. It uses CPI, Unemployment, and Holiday Flag — all statistically significant — achieving R² = 2.48%, RMSE = $557,302, and AIC = 188,524. However, with R² = 2.5%, the model explains only a small portion of sales variation, suggesting that other factors not captured in this dataset likely play a more important role."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3000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all for our presentation today. Thank you for listening!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37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</p:spPr>
        <p:txBody>
          <a:bodyPr anchor="b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3123E-E3E0-5E2A-E1FB-EC28A2C68E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0A6B95-C59B-C125-7957-8C41B378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367528" cy="52120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8CD2E87-8426-FC12-6665-A6E2F64FEA9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-9525" y="5039331"/>
            <a:ext cx="986377" cy="128016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D35CF771-1335-6C94-6AA8-AF68EADDDF00}"/>
              </a:ext>
            </a:extLst>
          </p:cNvPr>
          <p:cNvSpPr/>
          <p:nvPr userDrawn="1"/>
        </p:nvSpPr>
        <p:spPr>
          <a:xfrm>
            <a:off x="1140014" y="5142797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9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7671816" cy="2103120"/>
          </a:xfrm>
        </p:spPr>
        <p:txBody>
          <a:bodyPr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9296AFE-5FB8-52A4-3111-3B53DBE4DB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200400"/>
            <a:ext cx="10149840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reeform: Shape 12">
            <a:extLst>
              <a:ext uri="{FF2B5EF4-FFF2-40B4-BE49-F238E27FC236}">
                <a16:creationId xmlns:a16="http://schemas.microsoft.com/office/drawing/2014/main" id="{809C5320-0161-C582-141C-55F06D4F3BAE}"/>
              </a:ext>
            </a:extLst>
          </p:cNvPr>
          <p:cNvSpPr/>
          <p:nvPr userDrawn="1"/>
        </p:nvSpPr>
        <p:spPr>
          <a:xfrm>
            <a:off x="8893126" y="35193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9C982F3-4477-76AC-0429-350585A39FFA}"/>
              </a:ext>
            </a:extLst>
          </p:cNvPr>
          <p:cNvSpPr/>
          <p:nvPr userDrawn="1"/>
        </p:nvSpPr>
        <p:spPr>
          <a:xfrm>
            <a:off x="5255120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87A8F7B2-0552-AAD4-9DE2-845DE10CA10A}"/>
              </a:ext>
            </a:extLst>
          </p:cNvPr>
          <p:cNvSpPr/>
          <p:nvPr userDrawn="1"/>
        </p:nvSpPr>
        <p:spPr>
          <a:xfrm>
            <a:off x="6710252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95DA7FF-BAA0-F04C-CA6C-16E9C2D55593}"/>
              </a:ext>
            </a:extLst>
          </p:cNvPr>
          <p:cNvSpPr/>
          <p:nvPr userDrawn="1"/>
        </p:nvSpPr>
        <p:spPr>
          <a:xfrm>
            <a:off x="879765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68D9CEC-53B7-B8DC-B77E-E3F86681879C}"/>
              </a:ext>
            </a:extLst>
          </p:cNvPr>
          <p:cNvSpPr/>
          <p:nvPr userDrawn="1"/>
        </p:nvSpPr>
        <p:spPr>
          <a:xfrm>
            <a:off x="2336512" y="-9525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222D4D6-56B1-C4C3-0E51-FB22F0CD902B}"/>
              </a:ext>
            </a:extLst>
          </p:cNvPr>
          <p:cNvSpPr/>
          <p:nvPr userDrawn="1"/>
        </p:nvSpPr>
        <p:spPr>
          <a:xfrm>
            <a:off x="8160084" y="-10376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E6292F0-9E78-C98C-097B-30DEBBC1B179}"/>
              </a:ext>
            </a:extLst>
          </p:cNvPr>
          <p:cNvSpPr/>
          <p:nvPr userDrawn="1"/>
        </p:nvSpPr>
        <p:spPr>
          <a:xfrm>
            <a:off x="9615216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2">
            <a:extLst>
              <a:ext uri="{FF2B5EF4-FFF2-40B4-BE49-F238E27FC236}">
                <a16:creationId xmlns:a16="http://schemas.microsoft.com/office/drawing/2014/main" id="{315817B3-76DB-FDD0-60F7-E385C0E84F58}"/>
              </a:ext>
            </a:extLst>
          </p:cNvPr>
          <p:cNvSpPr/>
          <p:nvPr userDrawn="1"/>
        </p:nvSpPr>
        <p:spPr>
          <a:xfrm>
            <a:off x="10342958" y="32052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</p:spTree>
    <p:extLst>
      <p:ext uri="{BB962C8B-B14F-4D97-AF65-F5344CB8AC3E}">
        <p14:creationId xmlns:p14="http://schemas.microsoft.com/office/powerpoint/2010/main" val="38917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72" r:id="rId9"/>
    <p:sldLayoutId id="2147483673" r:id="rId10"/>
    <p:sldLayoutId id="2147483653" r:id="rId11"/>
    <p:sldLayoutId id="2147483663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F26B43"/>
          </p15:clr>
        </p15:guide>
        <p15:guide id="2" pos="3840">
          <p15:clr>
            <a:srgbClr val="F26B43"/>
          </p15:clr>
        </p15:guide>
        <p15:guide id="3" pos="5640">
          <p15:clr>
            <a:srgbClr val="F26B43"/>
          </p15:clr>
        </p15:guide>
        <p15:guide id="4" pos="1656">
          <p15:clr>
            <a:srgbClr val="F26B43"/>
          </p15:clr>
        </p15:guide>
        <p15:guide id="5" pos="52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yasserh/walmart-datase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1097280"/>
            <a:ext cx="5029200" cy="2926080"/>
          </a:xfrm>
        </p:spPr>
        <p:txBody>
          <a:bodyPr lIns="0" anchor="b" anchorCtr="0">
            <a:normAutofit/>
          </a:bodyPr>
          <a:lstStyle/>
          <a:p>
            <a:r>
              <a:rPr lang="en-US" dirty="0"/>
              <a:t>Walmart Retail Sales Performance </a:t>
            </a:r>
            <a:endParaRPr lang="en-US" sz="3100" dirty="0">
              <a:solidFill>
                <a:srgbClr val="AEC1D9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3"/>
            <a:ext cx="4912598" cy="1716099"/>
          </a:xfrm>
        </p:spPr>
        <p:txBody>
          <a:bodyPr>
            <a:normAutofit/>
          </a:bodyPr>
          <a:lstStyle/>
          <a:p>
            <a:r>
              <a:rPr lang="en-US" sz="1200" dirty="0"/>
              <a:t>Baruch College Spring 2026</a:t>
            </a:r>
          </a:p>
          <a:p>
            <a:r>
              <a:rPr lang="en-US" sz="1200" dirty="0"/>
              <a:t>STA 9750 Software Tools for Data Analysis</a:t>
            </a:r>
          </a:p>
          <a:p>
            <a:r>
              <a:rPr lang="en-US" sz="1200" dirty="0"/>
              <a:t>Group 11</a:t>
            </a:r>
          </a:p>
          <a:p>
            <a:r>
              <a:rPr lang="en-US" dirty="0"/>
              <a:t>	</a:t>
            </a:r>
          </a:p>
          <a:p>
            <a:endParaRPr lang="en-US" dirty="0"/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E83BB08F-E403-8715-0B24-AD9E4B72C80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6518" r="651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F134-BBDC-2CEE-A7B6-3E1E8B6A6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6BC8202-3C3B-56A9-F54F-107E4003D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396" y="214750"/>
            <a:ext cx="7955280" cy="1335024"/>
          </a:xfrm>
        </p:spPr>
        <p:txBody>
          <a:bodyPr anchor="b" anchorCtr="0">
            <a:normAutofit/>
          </a:bodyPr>
          <a:lstStyle/>
          <a:p>
            <a:r>
              <a:rPr lang="en-US" sz="4400" dirty="0"/>
              <a:t>Research Goal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0257F9E-F4D5-AF71-C064-CD9A5EC4B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8141" y="1916758"/>
            <a:ext cx="7545324" cy="4072561"/>
          </a:xfrm>
        </p:spPr>
        <p:txBody>
          <a:bodyPr>
            <a:normAutofit/>
          </a:bodyPr>
          <a:lstStyle/>
          <a:p>
            <a:r>
              <a:rPr lang="en-US" sz="1600" dirty="0"/>
              <a:t>The goal of this project is to identify which economic and seasonal factors most significantly influence weekly retail sales across 45 Walmart stores in the United States.</a:t>
            </a:r>
          </a:p>
          <a:p>
            <a:endParaRPr lang="en-US" sz="1600" dirty="0"/>
          </a:p>
          <a:p>
            <a:r>
              <a:rPr lang="en-US" sz="1600" dirty="0"/>
              <a:t>Using the </a:t>
            </a:r>
            <a:r>
              <a:rPr lang="en-US" sz="1600" i="1" dirty="0"/>
              <a:t>Walmart Store Sales Dataset (Kaggle, 2010–2012)</a:t>
            </a:r>
            <a:r>
              <a:rPr lang="en-US" sz="1600" dirty="0"/>
              <a:t>, we conduct: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CEDEA"/>
                </a:solidFill>
              </a:rPr>
              <a:t>Association Analysis</a:t>
            </a:r>
            <a:r>
              <a:rPr lang="en-US" sz="1600" dirty="0">
                <a:solidFill>
                  <a:srgbClr val="CCEDEA"/>
                </a:solidFill>
              </a:rPr>
              <a:t> </a:t>
            </a:r>
            <a:r>
              <a:rPr lang="en-US" sz="1600" dirty="0"/>
              <a:t>to examine the relationships between each predictor variable and Weekly_Sales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CEDEA"/>
                </a:solidFill>
              </a:rPr>
              <a:t>Regression Modeling</a:t>
            </a:r>
            <a:r>
              <a:rPr lang="en-US" sz="1600" dirty="0">
                <a:solidFill>
                  <a:srgbClr val="CCEDEA"/>
                </a:solidFill>
              </a:rPr>
              <a:t> </a:t>
            </a:r>
            <a:r>
              <a:rPr lang="en-US" sz="1600" dirty="0"/>
              <a:t>to quantify the impact of significant factors and build a regression model to identify and quantify the key factors influencing weekly sales</a:t>
            </a:r>
          </a:p>
          <a:p>
            <a:endParaRPr lang="en-US" sz="1600" dirty="0"/>
          </a:p>
          <a:p>
            <a:r>
              <a:rPr lang="en-US" sz="1600" dirty="0"/>
              <a:t>Our aim is to determine which variables are statistically significant drivers of retail sales performance.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282D93-BDEC-18C3-736D-19AFF5A481D8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E3E934CF-EA41-6118-5C00-B37B95FDB0D5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99397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609600"/>
            <a:ext cx="5029200" cy="799253"/>
          </a:xfrm>
        </p:spPr>
        <p:txBody>
          <a:bodyPr lIns="0" anchor="b" anchorCtr="0"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5D053B-96DE-5357-A00A-97A7A5026411}"/>
              </a:ext>
            </a:extLst>
          </p:cNvPr>
          <p:cNvSpPr txBox="1">
            <a:spLocks/>
          </p:cNvSpPr>
          <p:nvPr/>
        </p:nvSpPr>
        <p:spPr>
          <a:xfrm>
            <a:off x="6057900" y="1388530"/>
            <a:ext cx="5029200" cy="1679790"/>
          </a:xfrm>
          <a:prstGeom prst="rect">
            <a:avLst/>
          </a:prstGeom>
        </p:spPr>
        <p:txBody>
          <a:bodyPr vert="horz" lIns="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800" b="0" dirty="0">
                <a:solidFill>
                  <a:srgbClr val="CCEDEA"/>
                </a:solidFill>
                <a:latin typeface="+mn-lt"/>
              </a:rPr>
              <a:t>This project investigates which economic and seasonal factors most significantly influence weekly sales across Walmart stores in the United States, using association analysis and regression modeling.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48D7A82-0400-09BF-E6C4-4E5D32120AFF}"/>
              </a:ext>
            </a:extLst>
          </p:cNvPr>
          <p:cNvGrpSpPr/>
          <p:nvPr/>
        </p:nvGrpSpPr>
        <p:grpSpPr>
          <a:xfrm>
            <a:off x="6224693" y="3259329"/>
            <a:ext cx="4251960" cy="530352"/>
            <a:chOff x="569976" y="748454"/>
            <a:chExt cx="4251960" cy="530352"/>
          </a:xfrm>
        </p:grpSpPr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7E9647BC-1172-7C2C-837C-7F8771F8CB0A}"/>
                </a:ext>
              </a:extLst>
            </p:cNvPr>
            <p:cNvSpPr/>
            <p:nvPr/>
          </p:nvSpPr>
          <p:spPr>
            <a:xfrm>
              <a:off x="569976" y="748454"/>
              <a:ext cx="502920" cy="50292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>
                <a:solidFill>
                  <a:srgbClr val="CCEDEA"/>
                </a:solidFill>
              </a:endParaRPr>
            </a:p>
          </p:txBody>
        </p:sp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8A9CA83D-9399-A5D8-016B-554BCCE5D40C}"/>
                </a:ext>
              </a:extLst>
            </p:cNvPr>
            <p:cNvSpPr/>
            <p:nvPr/>
          </p:nvSpPr>
          <p:spPr>
            <a:xfrm>
              <a:off x="569976" y="748454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</a:t>
              </a:r>
              <a:endParaRPr lang="en-US" sz="1400" dirty="0"/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5AF4E59B-BDDB-ED8B-2D47-13BC6261B53E}"/>
                </a:ext>
              </a:extLst>
            </p:cNvPr>
            <p:cNvSpPr/>
            <p:nvPr/>
          </p:nvSpPr>
          <p:spPr>
            <a:xfrm>
              <a:off x="1164336" y="748454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Preparation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AE80352F-9D6B-FCBA-F03A-F2EDC0CA4580}"/>
                </a:ext>
              </a:extLst>
            </p:cNvPr>
            <p:cNvSpPr/>
            <p:nvPr/>
          </p:nvSpPr>
          <p:spPr>
            <a:xfrm>
              <a:off x="1164336" y="1004486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00" dirty="0">
                  <a:solidFill>
                    <a:srgbClr val="CCEDEA"/>
                  </a:solidFill>
                </a:rPr>
                <a:t>Missing values, outliers, variable types (Sources: </a:t>
              </a:r>
              <a:r>
                <a:rPr lang="en-US" sz="1100" dirty="0">
                  <a:solidFill>
                    <a:srgbClr val="CCED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Kaggle</a:t>
              </a:r>
              <a:r>
                <a:rPr lang="en-US" sz="1100" dirty="0">
                  <a:solidFill>
                    <a:srgbClr val="CCED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)</a:t>
              </a:r>
              <a:endParaRPr lang="en-US" sz="1100" dirty="0">
                <a:solidFill>
                  <a:srgbClr val="CCEDEA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FD0441D-8236-AA63-E100-254F9AE4650B}"/>
              </a:ext>
            </a:extLst>
          </p:cNvPr>
          <p:cNvGrpSpPr/>
          <p:nvPr/>
        </p:nvGrpSpPr>
        <p:grpSpPr>
          <a:xfrm>
            <a:off x="6224693" y="5563617"/>
            <a:ext cx="4251960" cy="530352"/>
            <a:chOff x="365760" y="2240280"/>
            <a:chExt cx="4251960" cy="530352"/>
          </a:xfrm>
        </p:grpSpPr>
        <p:sp>
          <p:nvSpPr>
            <p:cNvPr id="20" name="Shape 6">
              <a:extLst>
                <a:ext uri="{FF2B5EF4-FFF2-40B4-BE49-F238E27FC236}">
                  <a16:creationId xmlns:a16="http://schemas.microsoft.com/office/drawing/2014/main" id="{02CA64BF-5A48-EC2A-BB41-3E7C347983E0}"/>
                </a:ext>
              </a:extLst>
            </p:cNvPr>
            <p:cNvSpPr/>
            <p:nvPr/>
          </p:nvSpPr>
          <p:spPr>
            <a:xfrm>
              <a:off x="365760" y="2240280"/>
              <a:ext cx="502920" cy="50292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7">
              <a:extLst>
                <a:ext uri="{FF2B5EF4-FFF2-40B4-BE49-F238E27FC236}">
                  <a16:creationId xmlns:a16="http://schemas.microsoft.com/office/drawing/2014/main" id="{DFB6670E-9F2D-2060-8E48-AC8329A6EA20}"/>
                </a:ext>
              </a:extLst>
            </p:cNvPr>
            <p:cNvSpPr/>
            <p:nvPr/>
          </p:nvSpPr>
          <p:spPr>
            <a:xfrm>
              <a:off x="365760" y="224028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</a:t>
              </a:r>
              <a:endParaRPr lang="en-US" sz="1400" dirty="0"/>
            </a:p>
          </p:txBody>
        </p:sp>
        <p:sp>
          <p:nvSpPr>
            <p:cNvPr id="22" name="Text 8">
              <a:extLst>
                <a:ext uri="{FF2B5EF4-FFF2-40B4-BE49-F238E27FC236}">
                  <a16:creationId xmlns:a16="http://schemas.microsoft.com/office/drawing/2014/main" id="{F300D9E1-8F5A-BA1B-8BF4-C5FF6B042F49}"/>
                </a:ext>
              </a:extLst>
            </p:cNvPr>
            <p:cNvSpPr/>
            <p:nvPr/>
          </p:nvSpPr>
          <p:spPr>
            <a:xfrm>
              <a:off x="960120" y="224028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Calibri" pitchFamily="34" charset="0"/>
                  <a:cs typeface="Calibri" pitchFamily="34" charset="-120"/>
                </a:rPr>
                <a:t>Other Techniques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BB5B4649-52C3-CA55-7AA1-E1496072A0B6}"/>
                </a:ext>
              </a:extLst>
            </p:cNvPr>
            <p:cNvSpPr/>
            <p:nvPr/>
          </p:nvSpPr>
          <p:spPr>
            <a:xfrm>
              <a:off x="960120" y="2496312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CED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Lasso, Ridge regression $+&amp; ARIMA forecasting</a:t>
              </a:r>
              <a:endParaRPr lang="en-US" sz="1100" dirty="0">
                <a:solidFill>
                  <a:srgbClr val="CCEDEA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E58FE0F-BD7F-59C4-4500-25CE479F1C9C}"/>
              </a:ext>
            </a:extLst>
          </p:cNvPr>
          <p:cNvGrpSpPr/>
          <p:nvPr/>
        </p:nvGrpSpPr>
        <p:grpSpPr>
          <a:xfrm>
            <a:off x="6224693" y="4045713"/>
            <a:ext cx="4251960" cy="530352"/>
            <a:chOff x="365760" y="3291840"/>
            <a:chExt cx="4251960" cy="530352"/>
          </a:xfrm>
        </p:grpSpPr>
        <p:sp>
          <p:nvSpPr>
            <p:cNvPr id="30" name="Shape 10">
              <a:extLst>
                <a:ext uri="{FF2B5EF4-FFF2-40B4-BE49-F238E27FC236}">
                  <a16:creationId xmlns:a16="http://schemas.microsoft.com/office/drawing/2014/main" id="{516BAA4C-886C-2488-62D6-BC4BDEC26AE9}"/>
                </a:ext>
              </a:extLst>
            </p:cNvPr>
            <p:cNvSpPr/>
            <p:nvPr/>
          </p:nvSpPr>
          <p:spPr>
            <a:xfrm>
              <a:off x="365760" y="3291840"/>
              <a:ext cx="502920" cy="50292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1">
              <a:extLst>
                <a:ext uri="{FF2B5EF4-FFF2-40B4-BE49-F238E27FC236}">
                  <a16:creationId xmlns:a16="http://schemas.microsoft.com/office/drawing/2014/main" id="{F6D267BD-C480-AB2B-AD54-20AF057D44E2}"/>
                </a:ext>
              </a:extLst>
            </p:cNvPr>
            <p:cNvSpPr/>
            <p:nvPr/>
          </p:nvSpPr>
          <p:spPr>
            <a:xfrm>
              <a:off x="365760" y="329184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</a:t>
              </a:r>
              <a:endParaRPr lang="en-US" sz="1400" dirty="0"/>
            </a:p>
          </p:txBody>
        </p:sp>
        <p:sp>
          <p:nvSpPr>
            <p:cNvPr id="32" name="Text 12">
              <a:extLst>
                <a:ext uri="{FF2B5EF4-FFF2-40B4-BE49-F238E27FC236}">
                  <a16:creationId xmlns:a16="http://schemas.microsoft.com/office/drawing/2014/main" id="{EA51BDFD-47E7-E03D-BBE0-71114A983D34}"/>
                </a:ext>
              </a:extLst>
            </p:cNvPr>
            <p:cNvSpPr/>
            <p:nvPr/>
          </p:nvSpPr>
          <p:spPr>
            <a:xfrm>
              <a:off x="960120" y="329184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Association Analysis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33" name="Text 13">
              <a:extLst>
                <a:ext uri="{FF2B5EF4-FFF2-40B4-BE49-F238E27FC236}">
                  <a16:creationId xmlns:a16="http://schemas.microsoft.com/office/drawing/2014/main" id="{772A0E22-EFE2-A6D6-F2C5-DB3B2BBA5AC9}"/>
                </a:ext>
              </a:extLst>
            </p:cNvPr>
            <p:cNvSpPr/>
            <p:nvPr/>
          </p:nvSpPr>
          <p:spPr>
            <a:xfrm>
              <a:off x="960120" y="3547872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CED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 variables, visualizations &amp; statistical tests</a:t>
              </a:r>
              <a:endParaRPr lang="en-US" sz="1100" dirty="0">
                <a:solidFill>
                  <a:srgbClr val="CCEDEA"/>
                </a:solidFill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A751754-B3D4-71CD-D555-B331C80AC796}"/>
              </a:ext>
            </a:extLst>
          </p:cNvPr>
          <p:cNvGrpSpPr/>
          <p:nvPr/>
        </p:nvGrpSpPr>
        <p:grpSpPr>
          <a:xfrm>
            <a:off x="6224693" y="4804665"/>
            <a:ext cx="4251960" cy="530352"/>
            <a:chOff x="4846320" y="1188720"/>
            <a:chExt cx="4251960" cy="530352"/>
          </a:xfrm>
        </p:grpSpPr>
        <p:sp>
          <p:nvSpPr>
            <p:cNvPr id="39" name="Shape 14">
              <a:extLst>
                <a:ext uri="{FF2B5EF4-FFF2-40B4-BE49-F238E27FC236}">
                  <a16:creationId xmlns:a16="http://schemas.microsoft.com/office/drawing/2014/main" id="{B72E94D5-6B2A-F220-5DDC-BEC390BA930E}"/>
                </a:ext>
              </a:extLst>
            </p:cNvPr>
            <p:cNvSpPr/>
            <p:nvPr/>
          </p:nvSpPr>
          <p:spPr>
            <a:xfrm>
              <a:off x="4846320" y="1188720"/>
              <a:ext cx="502920" cy="50292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15">
              <a:extLst>
                <a:ext uri="{FF2B5EF4-FFF2-40B4-BE49-F238E27FC236}">
                  <a16:creationId xmlns:a16="http://schemas.microsoft.com/office/drawing/2014/main" id="{FD7B80AD-8B2B-DB1F-5ECD-304773751228}"/>
                </a:ext>
              </a:extLst>
            </p:cNvPr>
            <p:cNvSpPr/>
            <p:nvPr/>
          </p:nvSpPr>
          <p:spPr>
            <a:xfrm>
              <a:off x="4846320" y="118872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</a:t>
              </a:r>
              <a:endParaRPr lang="en-US" sz="1400" dirty="0"/>
            </a:p>
          </p:txBody>
        </p:sp>
        <p:sp>
          <p:nvSpPr>
            <p:cNvPr id="41" name="Text 16">
              <a:extLst>
                <a:ext uri="{FF2B5EF4-FFF2-40B4-BE49-F238E27FC236}">
                  <a16:creationId xmlns:a16="http://schemas.microsoft.com/office/drawing/2014/main" id="{7E024EC6-4C03-C17D-867B-65701C19DE4D}"/>
                </a:ext>
              </a:extLst>
            </p:cNvPr>
            <p:cNvSpPr/>
            <p:nvPr/>
          </p:nvSpPr>
          <p:spPr>
            <a:xfrm>
              <a:off x="5440680" y="118872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Regression Models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42" name="Text 17">
              <a:extLst>
                <a:ext uri="{FF2B5EF4-FFF2-40B4-BE49-F238E27FC236}">
                  <a16:creationId xmlns:a16="http://schemas.microsoft.com/office/drawing/2014/main" id="{ADD5A39C-C77B-9D36-5358-B0B5614A5FD1}"/>
                </a:ext>
              </a:extLst>
            </p:cNvPr>
            <p:cNvSpPr/>
            <p:nvPr/>
          </p:nvSpPr>
          <p:spPr>
            <a:xfrm>
              <a:off x="5440680" y="1444752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CEDE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 models compared and interpreted</a:t>
              </a:r>
              <a:endParaRPr lang="en-US" sz="1100" dirty="0">
                <a:solidFill>
                  <a:srgbClr val="CCEDE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39" y="2247899"/>
            <a:ext cx="9623132" cy="980076"/>
          </a:xfrm>
          <a:noFill/>
        </p:spPr>
        <p:txBody>
          <a:bodyPr anchor="t" anchorCtr="0">
            <a:noAutofit/>
          </a:bodyPr>
          <a:lstStyle/>
          <a:p>
            <a:r>
              <a:rPr lang="en-US" sz="4400" dirty="0"/>
              <a:t>Data Overview</a:t>
            </a:r>
            <a:r>
              <a:rPr lang="zh-CN" altLang="en-US" sz="4400" dirty="0"/>
              <a:t> </a:t>
            </a:r>
            <a:r>
              <a:rPr lang="en-US" altLang="zh-CN" sz="4400" dirty="0"/>
              <a:t>and Cleaning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064" y="3188086"/>
            <a:ext cx="5029200" cy="2479744"/>
          </a:xfrm>
          <a:noFill/>
        </p:spPr>
        <p:txBody>
          <a:bodyPr>
            <a:normAutofit/>
          </a:bodyPr>
          <a:lstStyle/>
          <a:p>
            <a:r>
              <a:rPr lang="en-US" dirty="0"/>
              <a:t>Checking missing values </a:t>
            </a:r>
          </a:p>
          <a:p>
            <a:r>
              <a:rPr lang="en-US" dirty="0"/>
              <a:t>Remove abnormal value (Temperature = -2.06°F) </a:t>
            </a:r>
          </a:p>
          <a:p>
            <a:r>
              <a:rPr lang="en-US" dirty="0"/>
              <a:t>Convert variable types (</a:t>
            </a:r>
            <a:r>
              <a:rPr lang="en-US" dirty="0" err="1"/>
              <a:t>Holiday_Flag</a:t>
            </a:r>
            <a:r>
              <a:rPr lang="en-US" dirty="0"/>
              <a:t>, Store → factor) </a:t>
            </a:r>
          </a:p>
          <a:p>
            <a:r>
              <a:rPr lang="en-US" dirty="0"/>
              <a:t>Check distribution of </a:t>
            </a:r>
            <a:r>
              <a:rPr lang="en-US" dirty="0" err="1"/>
              <a:t>Weekly_Sales</a:t>
            </a:r>
            <a:r>
              <a:rPr lang="en-US" dirty="0"/>
              <a:t> (histogram + QQ plot)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EE8DD6-5A9D-928B-5DCB-7DE8AC774885}"/>
              </a:ext>
            </a:extLst>
          </p:cNvPr>
          <p:cNvSpPr txBox="1"/>
          <p:nvPr/>
        </p:nvSpPr>
        <p:spPr>
          <a:xfrm>
            <a:off x="2710664" y="59298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6,434 complete observations ready for analysis</a:t>
            </a:r>
            <a:endParaRPr lang="en-US" sz="1800" dirty="0">
              <a:solidFill>
                <a:srgbClr val="CCEDEA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593CCE-CCCB-C680-85C7-AA72463801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00"/>
          <a:stretch>
            <a:fillRect/>
          </a:stretch>
        </p:blipFill>
        <p:spPr>
          <a:xfrm>
            <a:off x="969263" y="3389179"/>
            <a:ext cx="4930674" cy="2039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6D33D5-1AE3-E148-1A1A-535BAC3C9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2" y="3227975"/>
            <a:ext cx="4930673" cy="23217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C5885A-48D5-5C78-5776-74CDFE6E8C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39" y="3217048"/>
            <a:ext cx="5417165" cy="233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 anchorCtr="0">
            <a:noAutofit/>
          </a:bodyPr>
          <a:lstStyle/>
          <a:p>
            <a:r>
              <a:rPr lang="en-US" dirty="0"/>
              <a:t>The Variables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231D8C-5C7D-BFD9-19A4-7628C140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30EC0E5-6621-B785-BB84-7AEBEF5B3C1A}"/>
              </a:ext>
            </a:extLst>
          </p:cNvPr>
          <p:cNvGrpSpPr/>
          <p:nvPr/>
        </p:nvGrpSpPr>
        <p:grpSpPr>
          <a:xfrm>
            <a:off x="914400" y="3229478"/>
            <a:ext cx="9380219" cy="2500761"/>
            <a:chOff x="934721" y="4064677"/>
            <a:chExt cx="8412480" cy="1956816"/>
          </a:xfrm>
        </p:grpSpPr>
        <p:sp>
          <p:nvSpPr>
            <p:cNvPr id="7" name="Shape 15">
              <a:extLst>
                <a:ext uri="{FF2B5EF4-FFF2-40B4-BE49-F238E27FC236}">
                  <a16:creationId xmlns:a16="http://schemas.microsoft.com/office/drawing/2014/main" id="{6F13F225-649B-1310-D599-EA8B166BD6B9}"/>
                </a:ext>
              </a:extLst>
            </p:cNvPr>
            <p:cNvSpPr/>
            <p:nvPr/>
          </p:nvSpPr>
          <p:spPr>
            <a:xfrm>
              <a:off x="934721" y="4064677"/>
              <a:ext cx="8412480" cy="31089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solidFill>
                  <a:srgbClr val="0E243E"/>
                </a:solidFill>
              </a:endParaRPr>
            </a:p>
          </p:txBody>
        </p:sp>
        <p:sp>
          <p:nvSpPr>
            <p:cNvPr id="8" name="Text 16">
              <a:extLst>
                <a:ext uri="{FF2B5EF4-FFF2-40B4-BE49-F238E27FC236}">
                  <a16:creationId xmlns:a16="http://schemas.microsoft.com/office/drawing/2014/main" id="{55ACCE7A-1E31-E195-BE7A-1A1A8B30FBFF}"/>
                </a:ext>
              </a:extLst>
            </p:cNvPr>
            <p:cNvSpPr/>
            <p:nvPr/>
          </p:nvSpPr>
          <p:spPr>
            <a:xfrm>
              <a:off x="1026161" y="4101253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Weekly_Sales</a:t>
              </a:r>
              <a:endParaRPr lang="en-US" sz="1100" dirty="0"/>
            </a:p>
          </p:txBody>
        </p:sp>
        <p:sp>
          <p:nvSpPr>
            <p:cNvPr id="9" name="Text 17">
              <a:extLst>
                <a:ext uri="{FF2B5EF4-FFF2-40B4-BE49-F238E27FC236}">
                  <a16:creationId xmlns:a16="http://schemas.microsoft.com/office/drawing/2014/main" id="{6F7EB6C4-5915-A022-CEE4-EEEE7C6050D5}"/>
                </a:ext>
              </a:extLst>
            </p:cNvPr>
            <p:cNvSpPr/>
            <p:nvPr/>
          </p:nvSpPr>
          <p:spPr>
            <a:xfrm>
              <a:off x="3403601" y="4101253"/>
              <a:ext cx="41148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Weekly revenue per store (USD)</a:t>
              </a:r>
              <a:endParaRPr lang="en-US" sz="1100" dirty="0"/>
            </a:p>
          </p:txBody>
        </p:sp>
        <p:sp>
          <p:nvSpPr>
            <p:cNvPr id="10" name="Text 18">
              <a:extLst>
                <a:ext uri="{FF2B5EF4-FFF2-40B4-BE49-F238E27FC236}">
                  <a16:creationId xmlns:a16="http://schemas.microsoft.com/office/drawing/2014/main" id="{93C8D2D2-296E-7AB2-8668-1285CBBCADE6}"/>
                </a:ext>
              </a:extLst>
            </p:cNvPr>
            <p:cNvSpPr/>
            <p:nvPr/>
          </p:nvSpPr>
          <p:spPr>
            <a:xfrm>
              <a:off x="7609841" y="4101253"/>
              <a:ext cx="1645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Response (y)</a:t>
              </a:r>
              <a:endParaRPr lang="en-US" sz="1100" dirty="0"/>
            </a:p>
          </p:txBody>
        </p:sp>
        <p:sp>
          <p:nvSpPr>
            <p:cNvPr id="11" name="Shape 19">
              <a:extLst>
                <a:ext uri="{FF2B5EF4-FFF2-40B4-BE49-F238E27FC236}">
                  <a16:creationId xmlns:a16="http://schemas.microsoft.com/office/drawing/2014/main" id="{D5D322F9-B5F2-95B1-A563-6E01F3F9098E}"/>
                </a:ext>
              </a:extLst>
            </p:cNvPr>
            <p:cNvSpPr/>
            <p:nvPr/>
          </p:nvSpPr>
          <p:spPr>
            <a:xfrm>
              <a:off x="934721" y="4393861"/>
              <a:ext cx="8412480" cy="310896"/>
            </a:xfrm>
            <a:prstGeom prst="rect">
              <a:avLst/>
            </a:prstGeom>
            <a:solidFill>
              <a:srgbClr val="CCEDEA"/>
            </a:solidFill>
            <a:ln w="1270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>
                <a:solidFill>
                  <a:srgbClr val="CCEDEA"/>
                </a:solidFill>
              </a:endParaRPr>
            </a:p>
          </p:txBody>
        </p:sp>
        <p:sp>
          <p:nvSpPr>
            <p:cNvPr id="12" name="Text 20">
              <a:extLst>
                <a:ext uri="{FF2B5EF4-FFF2-40B4-BE49-F238E27FC236}">
                  <a16:creationId xmlns:a16="http://schemas.microsoft.com/office/drawing/2014/main" id="{3CF53C72-B131-8282-A23D-B522A4D09F41}"/>
                </a:ext>
              </a:extLst>
            </p:cNvPr>
            <p:cNvSpPr/>
            <p:nvPr/>
          </p:nvSpPr>
          <p:spPr>
            <a:xfrm>
              <a:off x="1026161" y="4430437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Holiday_Flag</a:t>
              </a:r>
              <a:endParaRPr lang="en-US" sz="1100" dirty="0"/>
            </a:p>
          </p:txBody>
        </p:sp>
        <p:sp>
          <p:nvSpPr>
            <p:cNvPr id="13" name="Text 21">
              <a:extLst>
                <a:ext uri="{FF2B5EF4-FFF2-40B4-BE49-F238E27FC236}">
                  <a16:creationId xmlns:a16="http://schemas.microsoft.com/office/drawing/2014/main" id="{058CA40F-6944-B7D1-0C4F-B4F0F10114AF}"/>
                </a:ext>
              </a:extLst>
            </p:cNvPr>
            <p:cNvSpPr/>
            <p:nvPr/>
          </p:nvSpPr>
          <p:spPr>
            <a:xfrm>
              <a:off x="3403601" y="4430437"/>
              <a:ext cx="41148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Holiday week indicator (0/1)</a:t>
              </a:r>
              <a:endParaRPr lang="en-US" sz="1100" dirty="0"/>
            </a:p>
          </p:txBody>
        </p:sp>
        <p:sp>
          <p:nvSpPr>
            <p:cNvPr id="14" name="Text 22">
              <a:extLst>
                <a:ext uri="{FF2B5EF4-FFF2-40B4-BE49-F238E27FC236}">
                  <a16:creationId xmlns:a16="http://schemas.microsoft.com/office/drawing/2014/main" id="{FA79E2D9-7121-D710-8253-1176E5E857BB}"/>
                </a:ext>
              </a:extLst>
            </p:cNvPr>
            <p:cNvSpPr/>
            <p:nvPr/>
          </p:nvSpPr>
          <p:spPr>
            <a:xfrm>
              <a:off x="7609841" y="4430437"/>
              <a:ext cx="1645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Predictor (x)</a:t>
              </a:r>
              <a:endParaRPr lang="en-US" sz="1100" dirty="0"/>
            </a:p>
          </p:txBody>
        </p:sp>
        <p:sp>
          <p:nvSpPr>
            <p:cNvPr id="15" name="Shape 23">
              <a:extLst>
                <a:ext uri="{FF2B5EF4-FFF2-40B4-BE49-F238E27FC236}">
                  <a16:creationId xmlns:a16="http://schemas.microsoft.com/office/drawing/2014/main" id="{143445A1-8660-A946-5A5A-3CFEDFED835E}"/>
                </a:ext>
              </a:extLst>
            </p:cNvPr>
            <p:cNvSpPr/>
            <p:nvPr/>
          </p:nvSpPr>
          <p:spPr>
            <a:xfrm>
              <a:off x="934721" y="4723045"/>
              <a:ext cx="8412480" cy="31089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24">
              <a:extLst>
                <a:ext uri="{FF2B5EF4-FFF2-40B4-BE49-F238E27FC236}">
                  <a16:creationId xmlns:a16="http://schemas.microsoft.com/office/drawing/2014/main" id="{4DCCC554-CE78-EAB5-07D5-07D6A19AD046}"/>
                </a:ext>
              </a:extLst>
            </p:cNvPr>
            <p:cNvSpPr/>
            <p:nvPr/>
          </p:nvSpPr>
          <p:spPr>
            <a:xfrm>
              <a:off x="1026161" y="4759621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Temperature</a:t>
              </a:r>
              <a:endParaRPr lang="en-US" sz="1100" dirty="0"/>
            </a:p>
          </p:txBody>
        </p:sp>
        <p:sp>
          <p:nvSpPr>
            <p:cNvPr id="18" name="Text 25">
              <a:extLst>
                <a:ext uri="{FF2B5EF4-FFF2-40B4-BE49-F238E27FC236}">
                  <a16:creationId xmlns:a16="http://schemas.microsoft.com/office/drawing/2014/main" id="{C0E5C9B1-51EB-F934-DCFD-60099FFB7BAA}"/>
                </a:ext>
              </a:extLst>
            </p:cNvPr>
            <p:cNvSpPr/>
            <p:nvPr/>
          </p:nvSpPr>
          <p:spPr>
            <a:xfrm>
              <a:off x="3403601" y="4759621"/>
              <a:ext cx="41148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Regional temperature (°F)</a:t>
              </a:r>
              <a:endParaRPr lang="en-US" sz="1100" dirty="0"/>
            </a:p>
          </p:txBody>
        </p:sp>
        <p:sp>
          <p:nvSpPr>
            <p:cNvPr id="19" name="Text 26">
              <a:extLst>
                <a:ext uri="{FF2B5EF4-FFF2-40B4-BE49-F238E27FC236}">
                  <a16:creationId xmlns:a16="http://schemas.microsoft.com/office/drawing/2014/main" id="{4F3712B6-3AB3-2BF7-9BD5-86CE04ADF02C}"/>
                </a:ext>
              </a:extLst>
            </p:cNvPr>
            <p:cNvSpPr/>
            <p:nvPr/>
          </p:nvSpPr>
          <p:spPr>
            <a:xfrm>
              <a:off x="7609841" y="4759621"/>
              <a:ext cx="1645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Predictor (x)</a:t>
              </a:r>
              <a:endParaRPr lang="en-US" sz="1100" dirty="0"/>
            </a:p>
          </p:txBody>
        </p:sp>
        <p:sp>
          <p:nvSpPr>
            <p:cNvPr id="20" name="Shape 27">
              <a:extLst>
                <a:ext uri="{FF2B5EF4-FFF2-40B4-BE49-F238E27FC236}">
                  <a16:creationId xmlns:a16="http://schemas.microsoft.com/office/drawing/2014/main" id="{FA8C254E-630E-89BF-75C8-095E465E0171}"/>
                </a:ext>
              </a:extLst>
            </p:cNvPr>
            <p:cNvSpPr/>
            <p:nvPr/>
          </p:nvSpPr>
          <p:spPr>
            <a:xfrm>
              <a:off x="934721" y="5052229"/>
              <a:ext cx="8412480" cy="310896"/>
            </a:xfrm>
            <a:prstGeom prst="rect">
              <a:avLst/>
            </a:prstGeom>
            <a:solidFill>
              <a:srgbClr val="CCEDEA"/>
            </a:solidFill>
            <a:ln w="1270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28">
              <a:extLst>
                <a:ext uri="{FF2B5EF4-FFF2-40B4-BE49-F238E27FC236}">
                  <a16:creationId xmlns:a16="http://schemas.microsoft.com/office/drawing/2014/main" id="{DD4CB4EC-849F-5878-0595-29C9AB9C420F}"/>
                </a:ext>
              </a:extLst>
            </p:cNvPr>
            <p:cNvSpPr/>
            <p:nvPr/>
          </p:nvSpPr>
          <p:spPr>
            <a:xfrm>
              <a:off x="1026161" y="5088805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Fuel_Price</a:t>
              </a:r>
              <a:endParaRPr lang="en-US" sz="1100" dirty="0"/>
            </a:p>
          </p:txBody>
        </p:sp>
        <p:sp>
          <p:nvSpPr>
            <p:cNvPr id="22" name="Text 29">
              <a:extLst>
                <a:ext uri="{FF2B5EF4-FFF2-40B4-BE49-F238E27FC236}">
                  <a16:creationId xmlns:a16="http://schemas.microsoft.com/office/drawing/2014/main" id="{CF45E8E4-98B9-F650-87AB-46ABEE5A0F43}"/>
                </a:ext>
              </a:extLst>
            </p:cNvPr>
            <p:cNvSpPr/>
            <p:nvPr/>
          </p:nvSpPr>
          <p:spPr>
            <a:xfrm>
              <a:off x="3403601" y="5088805"/>
              <a:ext cx="41148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Regional fuel price (USD/gallon)</a:t>
              </a:r>
              <a:endParaRPr lang="en-US" sz="1100" dirty="0"/>
            </a:p>
          </p:txBody>
        </p:sp>
        <p:sp>
          <p:nvSpPr>
            <p:cNvPr id="23" name="Text 30">
              <a:extLst>
                <a:ext uri="{FF2B5EF4-FFF2-40B4-BE49-F238E27FC236}">
                  <a16:creationId xmlns:a16="http://schemas.microsoft.com/office/drawing/2014/main" id="{B3FA44A2-0CFA-2ACE-3DF6-B8088BFF2898}"/>
                </a:ext>
              </a:extLst>
            </p:cNvPr>
            <p:cNvSpPr/>
            <p:nvPr/>
          </p:nvSpPr>
          <p:spPr>
            <a:xfrm>
              <a:off x="7609841" y="5088805"/>
              <a:ext cx="1645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Predictor (x)</a:t>
              </a:r>
              <a:endParaRPr lang="en-US" sz="1100" dirty="0"/>
            </a:p>
          </p:txBody>
        </p:sp>
        <p:sp>
          <p:nvSpPr>
            <p:cNvPr id="24" name="Shape 31">
              <a:extLst>
                <a:ext uri="{FF2B5EF4-FFF2-40B4-BE49-F238E27FC236}">
                  <a16:creationId xmlns:a16="http://schemas.microsoft.com/office/drawing/2014/main" id="{5D77986C-A299-9E52-D1AD-4039BA8E6713}"/>
                </a:ext>
              </a:extLst>
            </p:cNvPr>
            <p:cNvSpPr/>
            <p:nvPr/>
          </p:nvSpPr>
          <p:spPr>
            <a:xfrm>
              <a:off x="934721" y="5381413"/>
              <a:ext cx="8412480" cy="31089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32">
              <a:extLst>
                <a:ext uri="{FF2B5EF4-FFF2-40B4-BE49-F238E27FC236}">
                  <a16:creationId xmlns:a16="http://schemas.microsoft.com/office/drawing/2014/main" id="{3B5A13AF-522B-51EB-C197-C4621EA54727}"/>
                </a:ext>
              </a:extLst>
            </p:cNvPr>
            <p:cNvSpPr/>
            <p:nvPr/>
          </p:nvSpPr>
          <p:spPr>
            <a:xfrm>
              <a:off x="1026161" y="5417989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CPI</a:t>
              </a:r>
              <a:endParaRPr lang="en-US" sz="1100" dirty="0"/>
            </a:p>
          </p:txBody>
        </p:sp>
        <p:sp>
          <p:nvSpPr>
            <p:cNvPr id="26" name="Text 33">
              <a:extLst>
                <a:ext uri="{FF2B5EF4-FFF2-40B4-BE49-F238E27FC236}">
                  <a16:creationId xmlns:a16="http://schemas.microsoft.com/office/drawing/2014/main" id="{8130AF49-D37A-F57F-A39C-32AE9B26925E}"/>
                </a:ext>
              </a:extLst>
            </p:cNvPr>
            <p:cNvSpPr/>
            <p:nvPr/>
          </p:nvSpPr>
          <p:spPr>
            <a:xfrm>
              <a:off x="3403601" y="5417989"/>
              <a:ext cx="41148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Consumer Price Index</a:t>
              </a:r>
              <a:endParaRPr lang="en-US" sz="1100" dirty="0"/>
            </a:p>
          </p:txBody>
        </p:sp>
        <p:sp>
          <p:nvSpPr>
            <p:cNvPr id="27" name="Text 34">
              <a:extLst>
                <a:ext uri="{FF2B5EF4-FFF2-40B4-BE49-F238E27FC236}">
                  <a16:creationId xmlns:a16="http://schemas.microsoft.com/office/drawing/2014/main" id="{335235A8-4407-0673-87B3-A54374CA2967}"/>
                </a:ext>
              </a:extLst>
            </p:cNvPr>
            <p:cNvSpPr/>
            <p:nvPr/>
          </p:nvSpPr>
          <p:spPr>
            <a:xfrm>
              <a:off x="7609841" y="5417989"/>
              <a:ext cx="1645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Predictor (x)</a:t>
              </a:r>
              <a:endParaRPr lang="en-US" sz="1100" dirty="0"/>
            </a:p>
          </p:txBody>
        </p:sp>
        <p:sp>
          <p:nvSpPr>
            <p:cNvPr id="28" name="Shape 35">
              <a:extLst>
                <a:ext uri="{FF2B5EF4-FFF2-40B4-BE49-F238E27FC236}">
                  <a16:creationId xmlns:a16="http://schemas.microsoft.com/office/drawing/2014/main" id="{2C3A13D4-EAB7-3A5C-622D-C8F34DE028E2}"/>
                </a:ext>
              </a:extLst>
            </p:cNvPr>
            <p:cNvSpPr/>
            <p:nvPr/>
          </p:nvSpPr>
          <p:spPr>
            <a:xfrm>
              <a:off x="934721" y="5710597"/>
              <a:ext cx="8412480" cy="310896"/>
            </a:xfrm>
            <a:prstGeom prst="rect">
              <a:avLst/>
            </a:prstGeom>
            <a:solidFill>
              <a:srgbClr val="CCEDEA"/>
            </a:solidFill>
            <a:ln w="1270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36">
              <a:extLst>
                <a:ext uri="{FF2B5EF4-FFF2-40B4-BE49-F238E27FC236}">
                  <a16:creationId xmlns:a16="http://schemas.microsoft.com/office/drawing/2014/main" id="{844CD38B-4107-74E2-8750-9D2028B99E87}"/>
                </a:ext>
              </a:extLst>
            </p:cNvPr>
            <p:cNvSpPr/>
            <p:nvPr/>
          </p:nvSpPr>
          <p:spPr>
            <a:xfrm>
              <a:off x="1026161" y="5747173"/>
              <a:ext cx="22860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Unemployment</a:t>
              </a:r>
              <a:endParaRPr lang="en-US" sz="1100" dirty="0"/>
            </a:p>
          </p:txBody>
        </p:sp>
        <p:sp>
          <p:nvSpPr>
            <p:cNvPr id="30" name="Text 37">
              <a:extLst>
                <a:ext uri="{FF2B5EF4-FFF2-40B4-BE49-F238E27FC236}">
                  <a16:creationId xmlns:a16="http://schemas.microsoft.com/office/drawing/2014/main" id="{5A591DF8-E5D1-9BC4-4662-0511F09F0092}"/>
                </a:ext>
              </a:extLst>
            </p:cNvPr>
            <p:cNvSpPr/>
            <p:nvPr/>
          </p:nvSpPr>
          <p:spPr>
            <a:xfrm>
              <a:off x="3403601" y="5747173"/>
              <a:ext cx="41148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Regional unemployment rate (%)</a:t>
              </a:r>
              <a:endParaRPr lang="en-US" sz="1100" dirty="0"/>
            </a:p>
          </p:txBody>
        </p:sp>
        <p:sp>
          <p:nvSpPr>
            <p:cNvPr id="31" name="Text 38">
              <a:extLst>
                <a:ext uri="{FF2B5EF4-FFF2-40B4-BE49-F238E27FC236}">
                  <a16:creationId xmlns:a16="http://schemas.microsoft.com/office/drawing/2014/main" id="{64DA5064-51CC-906B-7331-4CA148E81802}"/>
                </a:ext>
              </a:extLst>
            </p:cNvPr>
            <p:cNvSpPr/>
            <p:nvPr/>
          </p:nvSpPr>
          <p:spPr>
            <a:xfrm>
              <a:off x="7609841" y="5747173"/>
              <a:ext cx="1645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Predictor (x)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61EC-5F42-6AB8-DF35-480F0702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</p:spPr>
        <p:txBody>
          <a:bodyPr lIns="0" anchor="t" anchorCtr="0">
            <a:normAutofit/>
          </a:bodyPr>
          <a:lstStyle/>
          <a:p>
            <a:r>
              <a:rPr lang="en-US" dirty="0"/>
              <a:t>Association Analysis: Visualizations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99339-FABF-04A2-4090-C38B947B2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7065" y="845820"/>
            <a:ext cx="5486400" cy="1737360"/>
          </a:xfrm>
        </p:spPr>
        <p:txBody>
          <a:bodyPr anchorCtr="0">
            <a:normAutofit/>
          </a:bodyPr>
          <a:lstStyle/>
          <a:p>
            <a:pPr marL="0" indent="0">
              <a:buNone/>
            </a:pPr>
            <a:r>
              <a:rPr lang="en-US" dirty="0"/>
              <a:t>Temperature shows a weak association with Weekly_Sales. Sales are distributed across all temperature ranges with no clear trend.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A59C2E-23A1-920E-199D-67D88D18EF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7" t="-309" r="170" b="280"/>
          <a:stretch>
            <a:fillRect/>
          </a:stretch>
        </p:blipFill>
        <p:spPr>
          <a:xfrm>
            <a:off x="1188719" y="2560320"/>
            <a:ext cx="7993381" cy="3421380"/>
          </a:xfrm>
          <a:prstGeom prst="rect">
            <a:avLst/>
          </a:prstGeom>
          <a:noFill/>
        </p:spPr>
      </p:pic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6BFD5139-EF2B-2F2E-4F8F-9D0459D2BC2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6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735087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5EF60-BB39-8E54-4F78-B1D603E66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5EEA-8085-A462-BD9A-667938BB7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</p:spPr>
        <p:txBody>
          <a:bodyPr lIns="0" anchor="t" anchorCtr="0">
            <a:normAutofit/>
          </a:bodyPr>
          <a:lstStyle/>
          <a:p>
            <a:r>
              <a:rPr lang="en-US" dirty="0"/>
              <a:t>Association Analysis: Visualizations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2D726-07E2-9057-CAE6-6A79BA28A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7065" y="845820"/>
            <a:ext cx="5486400" cy="1737360"/>
          </a:xfrm>
        </p:spPr>
        <p:txBody>
          <a:bodyPr anchorCtr="0">
            <a:normAutofit/>
          </a:bodyPr>
          <a:lstStyle/>
          <a:p>
            <a:pPr marL="0" indent="0">
              <a:buNone/>
            </a:pPr>
            <a:r>
              <a:rPr lang="en-US" dirty="0"/>
              <a:t>Fuel Price shows no significant association with Weekly_Sales (p = 0.453). Sales remain consistent across all fuel price levels, making it the least useful predictor in this analysis.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EDE8E3-0D71-9ECC-991B-80F513E646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" b="52"/>
          <a:stretch/>
        </p:blipFill>
        <p:spPr>
          <a:xfrm>
            <a:off x="1188719" y="2560320"/>
            <a:ext cx="7993381" cy="3421380"/>
          </a:xfrm>
          <a:prstGeom prst="rect">
            <a:avLst/>
          </a:prstGeom>
          <a:noFill/>
        </p:spPr>
      </p:pic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18B392B2-2E4A-8852-6AF0-B9CB6E8E030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7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1329297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3017-F2FA-9B0E-6460-D63F5C5C7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7DFFD-39C4-D528-CF8B-C097F4117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</p:spPr>
        <p:txBody>
          <a:bodyPr lIns="0" anchor="t" anchorCtr="0">
            <a:normAutofit/>
          </a:bodyPr>
          <a:lstStyle/>
          <a:p>
            <a:r>
              <a:rPr lang="en-US" dirty="0"/>
              <a:t>Association Analysis: Visualizations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6FBF1-9359-244E-0987-FFE3FB57B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7065" y="845820"/>
            <a:ext cx="5486400" cy="1737360"/>
          </a:xfrm>
        </p:spPr>
        <p:txBody>
          <a:bodyPr anchorCtr="0">
            <a:normAutofit/>
          </a:bodyPr>
          <a:lstStyle/>
          <a:p>
            <a:pPr marL="0" indent="0">
              <a:buNone/>
            </a:pPr>
            <a:r>
              <a:rPr lang="en-US" dirty="0"/>
              <a:t>CPI shows three store clusters by region. While statistically significant (p &lt; 0.05), the overall relationship with weekly sales is weak.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11FE86-9976-F164-7285-1A82FFC8CA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" b="52"/>
          <a:stretch/>
        </p:blipFill>
        <p:spPr>
          <a:xfrm>
            <a:off x="1188719" y="2560320"/>
            <a:ext cx="7993381" cy="3421380"/>
          </a:xfrm>
          <a:prstGeom prst="rect">
            <a:avLst/>
          </a:prstGeom>
          <a:noFill/>
        </p:spPr>
      </p:pic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D59F275-F388-AC0D-D0E9-DEC6D88A752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8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348660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3005E-01CC-A94F-AB82-3AA5EB78D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5EB2B-8A15-FBF9-F21A-7F3EDE145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</p:spPr>
        <p:txBody>
          <a:bodyPr lIns="0" anchor="t" anchorCtr="0">
            <a:normAutofit/>
          </a:bodyPr>
          <a:lstStyle/>
          <a:p>
            <a:r>
              <a:rPr lang="en-US" dirty="0"/>
              <a:t>Association Analysis: Visualizations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F7374-AD56-BBA5-C8D1-8B1C0A58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7065" y="845820"/>
            <a:ext cx="5486400" cy="1737360"/>
          </a:xfrm>
        </p:spPr>
        <p:txBody>
          <a:bodyPr anchorCtr="0">
            <a:normAutofit/>
          </a:bodyPr>
          <a:lstStyle/>
          <a:p>
            <a:pPr marL="0" indent="0">
              <a:buNone/>
            </a:pPr>
            <a:r>
              <a:rPr lang="en-US" dirty="0"/>
              <a:t>Unemployment shows the </a:t>
            </a:r>
            <a:r>
              <a:rPr lang="en-US" dirty="0">
                <a:solidFill>
                  <a:srgbClr val="CCEDEA"/>
                </a:solidFill>
              </a:rPr>
              <a:t>strongest</a:t>
            </a:r>
            <a:r>
              <a:rPr lang="en-US" dirty="0"/>
              <a:t> negative association (r = -0.106, p ≈ 0). A 1% rise in unemployment is associated with a $42,520 drop in weekly sales.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D145B9-8DBE-C8B0-9607-95361D736A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" b="52"/>
          <a:stretch/>
        </p:blipFill>
        <p:spPr>
          <a:xfrm>
            <a:off x="1188719" y="2560320"/>
            <a:ext cx="7993381" cy="3421380"/>
          </a:xfrm>
          <a:prstGeom prst="rect">
            <a:avLst/>
          </a:prstGeom>
          <a:noFill/>
        </p:spPr>
      </p:pic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060DA0ED-1CAD-7A28-037B-A4E1402E398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9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592221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D1F4C-052C-3200-73C5-B1F46DA39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E38D8-B4A1-823A-A30C-CD756827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</p:spPr>
        <p:txBody>
          <a:bodyPr lIns="0" anchor="t" anchorCtr="0">
            <a:normAutofit/>
          </a:bodyPr>
          <a:lstStyle/>
          <a:p>
            <a:r>
              <a:rPr lang="en-US" dirty="0"/>
              <a:t>Association Analysis: Visualizations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77653-6F22-CFDB-683D-191A2EE6F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7065" y="845820"/>
            <a:ext cx="5486400" cy="1737360"/>
          </a:xfrm>
        </p:spPr>
        <p:txBody>
          <a:bodyPr anchorCtr="0">
            <a:normAutofit/>
          </a:bodyPr>
          <a:lstStyle/>
          <a:p>
            <a:pPr marL="0" indent="0">
              <a:buNone/>
            </a:pPr>
            <a:r>
              <a:rPr lang="en-US" dirty="0"/>
              <a:t>Holiday weeks generate </a:t>
            </a:r>
            <a:r>
              <a:rPr lang="en-US" dirty="0">
                <a:solidFill>
                  <a:srgbClr val="CCEDEA"/>
                </a:solidFill>
              </a:rPr>
              <a:t>significantly higher sales </a:t>
            </a:r>
            <a:r>
              <a:rPr lang="en-US" dirty="0"/>
              <a:t>than non-holiday weeks, with a median difference of approximately $81,551. The association is </a:t>
            </a:r>
            <a:r>
              <a:rPr lang="en-US" dirty="0">
                <a:solidFill>
                  <a:srgbClr val="CCEDEA"/>
                </a:solidFill>
              </a:rPr>
              <a:t>statistically significant</a:t>
            </a:r>
            <a:r>
              <a:rPr lang="en-US" dirty="0"/>
              <a:t> (p = 0.003).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9608EE-94D8-E489-5F84-D220AC4C95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" b="52"/>
          <a:stretch/>
        </p:blipFill>
        <p:spPr>
          <a:xfrm>
            <a:off x="1188719" y="2560320"/>
            <a:ext cx="7993381" cy="3421380"/>
          </a:xfrm>
          <a:prstGeom prst="rect">
            <a:avLst/>
          </a:prstGeom>
          <a:noFill/>
        </p:spPr>
      </p:pic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DBEBA97B-C245-E3B7-B690-2377A8320D71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10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509387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81B14-BB03-5C1D-925E-FFD27BA8C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B940-A648-17C7-ACA8-8960B7DF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686" y="728704"/>
            <a:ext cx="10322046" cy="621719"/>
          </a:xfrm>
          <a:noFill/>
        </p:spPr>
        <p:txBody>
          <a:bodyPr anchor="b" anchorCtr="0">
            <a:noAutofit/>
          </a:bodyPr>
          <a:lstStyle/>
          <a:p>
            <a:r>
              <a:rPr lang="en-US" sz="4400" dirty="0"/>
              <a:t>Regression Model 1 - 3</a:t>
            </a:r>
          </a:p>
        </p:txBody>
      </p:sp>
      <p:graphicFrame>
        <p:nvGraphicFramePr>
          <p:cNvPr id="14" name="Table Placeholder 2">
            <a:extLst>
              <a:ext uri="{FF2B5EF4-FFF2-40B4-BE49-F238E27FC236}">
                <a16:creationId xmlns:a16="http://schemas.microsoft.com/office/drawing/2014/main" id="{B0F4E4DE-D583-72D4-C552-2C12DDCAC4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2951927"/>
              </p:ext>
            </p:extLst>
          </p:nvPr>
        </p:nvGraphicFramePr>
        <p:xfrm>
          <a:off x="1097475" y="4387566"/>
          <a:ext cx="9852961" cy="1378047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591596">
                  <a:extLst>
                    <a:ext uri="{9D8B030D-6E8A-4147-A177-3AD203B41FA5}">
                      <a16:colId xmlns:a16="http://schemas.microsoft.com/office/drawing/2014/main" val="30750867"/>
                    </a:ext>
                  </a:extLst>
                </a:gridCol>
                <a:gridCol w="3844327">
                  <a:extLst>
                    <a:ext uri="{9D8B030D-6E8A-4147-A177-3AD203B41FA5}">
                      <a16:colId xmlns:a16="http://schemas.microsoft.com/office/drawing/2014/main" val="1038941322"/>
                    </a:ext>
                  </a:extLst>
                </a:gridCol>
                <a:gridCol w="1390009">
                  <a:extLst>
                    <a:ext uri="{9D8B030D-6E8A-4147-A177-3AD203B41FA5}">
                      <a16:colId xmlns:a16="http://schemas.microsoft.com/office/drawing/2014/main" val="529645500"/>
                    </a:ext>
                  </a:extLst>
                </a:gridCol>
                <a:gridCol w="1762331">
                  <a:extLst>
                    <a:ext uri="{9D8B030D-6E8A-4147-A177-3AD203B41FA5}">
                      <a16:colId xmlns:a16="http://schemas.microsoft.com/office/drawing/2014/main" val="3469610457"/>
                    </a:ext>
                  </a:extLst>
                </a:gridCol>
                <a:gridCol w="1264698">
                  <a:extLst>
                    <a:ext uri="{9D8B030D-6E8A-4147-A177-3AD203B41FA5}">
                      <a16:colId xmlns:a16="http://schemas.microsoft.com/office/drawing/2014/main" val="1328285421"/>
                    </a:ext>
                  </a:extLst>
                </a:gridCol>
              </a:tblGrid>
              <a:tr h="355596">
                <a:tc>
                  <a:txBody>
                    <a:bodyPr/>
                    <a:lstStyle/>
                    <a:p>
                      <a:pPr algn="ctr"/>
                      <a:r>
                        <a:rPr lang="en-US" cap="none" baseline="0" dirty="0">
                          <a:solidFill>
                            <a:srgbClr val="CCEDEA"/>
                          </a:solidFill>
                        </a:rPr>
                        <a:t>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CCEDEA"/>
                          </a:solidFill>
                        </a:rPr>
                        <a:t>Variables</a:t>
                      </a:r>
                      <a:endParaRPr lang="en-US" sz="1800" dirty="0">
                        <a:solidFill>
                          <a:srgbClr val="CCEDEA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CCEDEA"/>
                          </a:solidFill>
                        </a:rPr>
                        <a:t>R²</a:t>
                      </a:r>
                      <a:endParaRPr lang="en-US" sz="1800" dirty="0">
                        <a:solidFill>
                          <a:srgbClr val="CCEDEA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CEDEA"/>
                          </a:solidFill>
                        </a:rPr>
                        <a:t>RMSE</a:t>
                      </a:r>
                      <a:endParaRPr lang="en-US" cap="none" baseline="0" dirty="0">
                        <a:solidFill>
                          <a:srgbClr val="CCEDEA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CCEDEA"/>
                          </a:solidFill>
                        </a:rPr>
                        <a:t>AIC</a:t>
                      </a:r>
                      <a:endParaRPr lang="en-US" sz="1800" dirty="0">
                        <a:solidFill>
                          <a:srgbClr val="CCEDEA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432886"/>
                  </a:ext>
                </a:extLst>
              </a:tr>
              <a:tr h="3374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</a:rPr>
                        <a:t>Model 1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E243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Unemployment only</a:t>
                      </a:r>
                      <a:endParaRPr lang="en-US" sz="1600" dirty="0">
                        <a:solidFill>
                          <a:srgbClr val="0E243E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0E243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1.1%</a:t>
                      </a:r>
                      <a:endParaRPr lang="en-US" sz="1600" b="0" dirty="0">
                        <a:solidFill>
                          <a:srgbClr val="0E243E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E243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$561,147</a:t>
                      </a:r>
                      <a:endParaRPr lang="en-US" sz="1600" b="0" dirty="0">
                        <a:solidFill>
                          <a:srgbClr val="0E243E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E243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188,608</a:t>
                      </a:r>
                      <a:endParaRPr lang="en-US" sz="1600" b="0" dirty="0">
                        <a:solidFill>
                          <a:srgbClr val="0E243E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40625"/>
                  </a:ext>
                </a:extLst>
              </a:tr>
              <a:tr h="3374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</a:rPr>
                        <a:t>Model 2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0E243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All 5 variables</a:t>
                      </a:r>
                      <a:endParaRPr lang="en-US" sz="1600" dirty="0">
                        <a:solidFill>
                          <a:srgbClr val="0E243E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0E243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2.54%</a:t>
                      </a:r>
                      <a:endParaRPr lang="en-US" sz="1600" b="0" dirty="0">
                        <a:solidFill>
                          <a:srgbClr val="0E243E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0E243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$557,110</a:t>
                      </a:r>
                      <a:endParaRPr lang="en-US" sz="1600" b="0" dirty="0">
                        <a:solidFill>
                          <a:srgbClr val="0E243E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E243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188,523</a:t>
                      </a:r>
                      <a:endParaRPr lang="en-US" sz="1600" b="0" dirty="0">
                        <a:solidFill>
                          <a:srgbClr val="0E243E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393470"/>
                  </a:ext>
                </a:extLst>
              </a:tr>
              <a:tr h="3374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Model 3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E243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CPI + Unemployment + Holiday</a:t>
                      </a:r>
                      <a:endParaRPr lang="en-US" sz="1600" b="1" dirty="0">
                        <a:solidFill>
                          <a:srgbClr val="0E243E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0E243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2.48%</a:t>
                      </a:r>
                      <a:endParaRPr lang="en-US" sz="1600" dirty="0">
                        <a:solidFill>
                          <a:srgbClr val="0E243E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0E243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$557,302</a:t>
                      </a:r>
                      <a:endParaRPr lang="en-US" sz="1600" b="1" dirty="0">
                        <a:solidFill>
                          <a:srgbClr val="0E243E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0E243E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188,524</a:t>
                      </a:r>
                      <a:endParaRPr lang="en-US" sz="1600" b="1" dirty="0">
                        <a:solidFill>
                          <a:srgbClr val="0E243E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36440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D8ECED-E13C-D420-71D9-30A28844F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56E150-C227-539E-11A3-B899A7938E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43" b="3432"/>
          <a:stretch>
            <a:fillRect/>
          </a:stretch>
        </p:blipFill>
        <p:spPr>
          <a:xfrm>
            <a:off x="7722485" y="1571897"/>
            <a:ext cx="3227952" cy="24770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83E64B-2E91-774A-6AC4-1C28C4729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192" y="1603357"/>
            <a:ext cx="2891882" cy="24522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D45DBC-4FB0-873A-2372-E7B263BCB7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475" y="1603357"/>
            <a:ext cx="3342306" cy="24522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62CDE3-0191-8261-77F9-E5042972D768}"/>
              </a:ext>
            </a:extLst>
          </p:cNvPr>
          <p:cNvSpPr txBox="1"/>
          <p:nvPr/>
        </p:nvSpPr>
        <p:spPr>
          <a:xfrm>
            <a:off x="1622368" y="5987087"/>
            <a:ext cx="8881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CC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and Model 3 have nearly identical R², RMSE, and AIC. Removing Temperature and Fuel Price did not hurt performance, confirming they are not meaningful predictors. Model 3 is simpler and equally accurate.</a:t>
            </a:r>
            <a:endParaRPr lang="en-US" sz="1200" dirty="0">
              <a:solidFill>
                <a:srgbClr val="CCEDE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537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48640"/>
            <a:ext cx="5532120" cy="800100"/>
          </a:xfrm>
          <a:noFill/>
        </p:spPr>
        <p:txBody>
          <a:bodyPr anchor="b" anchorCtr="0">
            <a:noAutofit/>
          </a:bodyPr>
          <a:lstStyle/>
          <a:p>
            <a:r>
              <a:rPr lang="en-US" sz="4400" dirty="0"/>
              <a:t>Regression Model 3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9DA784D-F56F-1224-707E-9F882C4EB8A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07071" y="1919127"/>
            <a:ext cx="4983480" cy="3977640"/>
          </a:xfrm>
        </p:spPr>
        <p:txBody>
          <a:bodyPr/>
          <a:lstStyle/>
          <a:p>
            <a:r>
              <a:rPr lang="en-US" b="1" dirty="0"/>
              <a:t>CPI</a:t>
            </a:r>
            <a:r>
              <a:rPr lang="en-US" dirty="0"/>
              <a:t> </a:t>
            </a:r>
            <a:r>
              <a:rPr lang="zh-CN" altLang="en-US" dirty="0"/>
              <a:t> </a:t>
            </a:r>
            <a:r>
              <a:rPr lang="en-US" dirty="0"/>
              <a:t>→ A 1-unit increase in CPI is associated with a </a:t>
            </a:r>
            <a:r>
              <a:rPr lang="en-US" b="1" dirty="0">
                <a:solidFill>
                  <a:srgbClr val="CCEDEA"/>
                </a:solidFill>
              </a:rPr>
              <a:t>$1,652 drop</a:t>
            </a:r>
            <a:r>
              <a:rPr lang="en-US" dirty="0">
                <a:solidFill>
                  <a:srgbClr val="CCEDEA"/>
                </a:solidFill>
              </a:rPr>
              <a:t> </a:t>
            </a:r>
            <a:r>
              <a:rPr lang="en-US" dirty="0"/>
              <a:t>in weekly sales</a:t>
            </a:r>
          </a:p>
          <a:p>
            <a:r>
              <a:rPr lang="en-US" b="1" dirty="0"/>
              <a:t>Unemployment</a:t>
            </a:r>
            <a:r>
              <a:rPr lang="en-US" dirty="0"/>
              <a:t> → A 1% rise in unemployment → </a:t>
            </a:r>
            <a:r>
              <a:rPr lang="en-US" b="1" dirty="0">
                <a:solidFill>
                  <a:srgbClr val="CCEDEA"/>
                </a:solidFill>
              </a:rPr>
              <a:t>$42,520 drop</a:t>
            </a:r>
            <a:r>
              <a:rPr lang="en-US" dirty="0">
                <a:solidFill>
                  <a:srgbClr val="CCEDEA"/>
                </a:solidFill>
              </a:rPr>
              <a:t> </a:t>
            </a:r>
            <a:r>
              <a:rPr lang="en-US" dirty="0"/>
              <a:t>in weekly sales</a:t>
            </a:r>
          </a:p>
          <a:p>
            <a:r>
              <a:rPr lang="en-US" b="1" dirty="0"/>
              <a:t>Holiday Flag</a:t>
            </a:r>
            <a:r>
              <a:rPr lang="en-US" dirty="0"/>
              <a:t> → Holiday weeks generate </a:t>
            </a:r>
            <a:r>
              <a:rPr lang="en-US" b="1" dirty="0">
                <a:solidFill>
                  <a:srgbClr val="CCEDEA"/>
                </a:solidFill>
              </a:rPr>
              <a:t>$84,438 more</a:t>
            </a:r>
            <a:r>
              <a:rPr lang="en-US" dirty="0">
                <a:solidFill>
                  <a:srgbClr val="CCEDEA"/>
                </a:solidFill>
              </a:rPr>
              <a:t> </a:t>
            </a:r>
            <a:r>
              <a:rPr lang="en-US" dirty="0"/>
              <a:t>in sales</a:t>
            </a:r>
          </a:p>
          <a:p>
            <a:r>
              <a:rPr lang="en-US" b="1" dirty="0"/>
              <a:t>R² = 2.5%</a:t>
            </a:r>
            <a:r>
              <a:rPr lang="en-US" dirty="0"/>
              <a:t> → Macroeconomic variables explain a limited portion of sales variation</a:t>
            </a:r>
          </a:p>
          <a:p>
            <a:r>
              <a:rPr lang="en-US" b="1" dirty="0"/>
              <a:t>All variables p &lt; 0.05</a:t>
            </a:r>
            <a:r>
              <a:rPr lang="en-US" dirty="0"/>
              <a:t> → Statistically significant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DFE8A8-4537-F7A1-3BF9-834AEFE3E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79E160-A384-BCEE-8339-791F503FA8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35"/>
          <a:stretch>
            <a:fillRect/>
          </a:stretch>
        </p:blipFill>
        <p:spPr>
          <a:xfrm>
            <a:off x="914400" y="1688305"/>
            <a:ext cx="4870531" cy="420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E68F1-257E-9F45-5712-C07EA3D1B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9256C-AF73-A2C1-2DDF-0181E8CAE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99532"/>
            <a:ext cx="8727688" cy="1055648"/>
          </a:xfrm>
          <a:noFill/>
        </p:spPr>
        <p:txBody>
          <a:bodyPr anchor="b" anchorCtr="0">
            <a:noAutofit/>
          </a:bodyPr>
          <a:lstStyle/>
          <a:p>
            <a:r>
              <a:rPr lang="en-US" sz="4000" dirty="0"/>
              <a:t>Other Techniques: Experimental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0F23EF-DF58-63BF-5479-05D718953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6AA846-9C5D-4699-139F-9779503FF1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507"/>
          <a:stretch>
            <a:fillRect/>
          </a:stretch>
        </p:blipFill>
        <p:spPr>
          <a:xfrm>
            <a:off x="1070519" y="2443810"/>
            <a:ext cx="4549698" cy="18514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D1BB7B-08E9-2668-72CB-0722D6507E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785"/>
          <a:stretch>
            <a:fillRect/>
          </a:stretch>
        </p:blipFill>
        <p:spPr>
          <a:xfrm>
            <a:off x="7222273" y="2167054"/>
            <a:ext cx="3349083" cy="29951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EC2881-8989-DC4C-4C6C-5F1E6CBF7954}"/>
              </a:ext>
            </a:extLst>
          </p:cNvPr>
          <p:cNvSpPr txBox="1"/>
          <p:nvPr/>
        </p:nvSpPr>
        <p:spPr>
          <a:xfrm>
            <a:off x="6775962" y="5501596"/>
            <a:ext cx="48173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CEDEA"/>
                </a:solidFill>
              </a:rPr>
              <a:t>Holiday weeks show higher proportion of above median sales (Chi-Square p = 0.036)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7B2F7D-407D-0E18-37AE-DF9733F5FC87}"/>
              </a:ext>
            </a:extLst>
          </p:cNvPr>
          <p:cNvSpPr txBox="1"/>
          <p:nvPr/>
        </p:nvSpPr>
        <p:spPr>
          <a:xfrm>
            <a:off x="996178" y="4962987"/>
            <a:ext cx="4876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CCEDEA"/>
                </a:solidFill>
              </a:rPr>
              <a:t>Both Ridge and Lasso achieved the same R² (2.54%) as Model 2, showing that adding regularization did not improve the model. Model 3 remains the best choice, fewer variables, same accuracy.</a:t>
            </a:r>
          </a:p>
        </p:txBody>
      </p:sp>
    </p:spTree>
    <p:extLst>
      <p:ext uri="{BB962C8B-B14F-4D97-AF65-F5344CB8AC3E}">
        <p14:creationId xmlns:p14="http://schemas.microsoft.com/office/powerpoint/2010/main" val="2867525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222D2-7595-1C2B-A966-44D50B936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F63B4F-2EA4-5D4C-C47B-725CB27AF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E7A22F-888F-8AB3-5319-B2269D53C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126" y="2086780"/>
            <a:ext cx="6884020" cy="309148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06E6C65-5DBC-95F8-E4EE-ACEE82371640}"/>
              </a:ext>
            </a:extLst>
          </p:cNvPr>
          <p:cNvSpPr txBox="1">
            <a:spLocks/>
          </p:cNvSpPr>
          <p:nvPr/>
        </p:nvSpPr>
        <p:spPr>
          <a:xfrm>
            <a:off x="1486829" y="5382270"/>
            <a:ext cx="9218342" cy="1018212"/>
          </a:xfrm>
          <a:prstGeom prst="rect">
            <a:avLst/>
          </a:prstGeom>
        </p:spPr>
        <p:txBody>
          <a:bodyPr anchorCtr="0">
            <a:norm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CEDEA"/>
                </a:solidFill>
              </a:rPr>
              <a:t>The ARIMA(</a:t>
            </a:r>
            <a:r>
              <a:rPr lang="en-US" sz="1600" b="1" i="1" dirty="0" err="1">
                <a:solidFill>
                  <a:srgbClr val="CCEDEA"/>
                </a:solidFill>
              </a:rPr>
              <a:t>A</a:t>
            </a:r>
            <a:r>
              <a:rPr lang="en-US" sz="1600" i="1" dirty="0" err="1">
                <a:solidFill>
                  <a:srgbClr val="CCEDEA"/>
                </a:solidFill>
              </a:rPr>
              <a:t>uto</a:t>
            </a:r>
            <a:r>
              <a:rPr lang="en-US" sz="1600" b="1" i="1" dirty="0" err="1">
                <a:solidFill>
                  <a:srgbClr val="CCEDEA"/>
                </a:solidFill>
              </a:rPr>
              <a:t>R</a:t>
            </a:r>
            <a:r>
              <a:rPr lang="en-US" sz="1600" i="1" dirty="0" err="1">
                <a:solidFill>
                  <a:srgbClr val="CCEDEA"/>
                </a:solidFill>
              </a:rPr>
              <a:t>egressive</a:t>
            </a:r>
            <a:r>
              <a:rPr lang="en-US" sz="1600" i="1" dirty="0">
                <a:solidFill>
                  <a:srgbClr val="CCEDEA"/>
                </a:solidFill>
              </a:rPr>
              <a:t> </a:t>
            </a:r>
            <a:r>
              <a:rPr lang="en-US" sz="1600" b="1" i="1" dirty="0">
                <a:solidFill>
                  <a:srgbClr val="CCEDEA"/>
                </a:solidFill>
              </a:rPr>
              <a:t>I</a:t>
            </a:r>
            <a:r>
              <a:rPr lang="en-US" sz="1600" i="1" dirty="0">
                <a:solidFill>
                  <a:srgbClr val="CCEDEA"/>
                </a:solidFill>
              </a:rPr>
              <a:t>ntegrated </a:t>
            </a:r>
            <a:r>
              <a:rPr lang="en-US" sz="1600" b="1" i="1" dirty="0">
                <a:solidFill>
                  <a:srgbClr val="CCEDEA"/>
                </a:solidFill>
              </a:rPr>
              <a:t>M</a:t>
            </a:r>
            <a:r>
              <a:rPr lang="en-US" sz="1600" i="1" dirty="0">
                <a:solidFill>
                  <a:srgbClr val="CCEDEA"/>
                </a:solidFill>
              </a:rPr>
              <a:t>oving </a:t>
            </a:r>
            <a:r>
              <a:rPr lang="en-US" sz="1600" b="1" i="1" dirty="0">
                <a:solidFill>
                  <a:srgbClr val="CCEDEA"/>
                </a:solidFill>
              </a:rPr>
              <a:t>A</a:t>
            </a:r>
            <a:r>
              <a:rPr lang="en-US" sz="1600" i="1" dirty="0">
                <a:solidFill>
                  <a:srgbClr val="CCEDEA"/>
                </a:solidFill>
              </a:rPr>
              <a:t>verage) </a:t>
            </a:r>
            <a:r>
              <a:rPr lang="en-US" sz="1600" dirty="0">
                <a:solidFill>
                  <a:srgbClr val="CCEDEA"/>
                </a:solidFill>
              </a:rPr>
              <a:t>(1,1,1)(0,1,0)[52] model forecasts a post-holiday sales decline in early 2013, consistent with seasonal patterns observed in 2010 and 2011.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B46A73D-44B9-E826-9118-7298F570F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99532"/>
            <a:ext cx="8727688" cy="1055648"/>
          </a:xfrm>
          <a:noFill/>
        </p:spPr>
        <p:txBody>
          <a:bodyPr anchor="b" anchorCtr="0">
            <a:noAutofit/>
          </a:bodyPr>
          <a:lstStyle/>
          <a:p>
            <a:r>
              <a:rPr lang="en-US" sz="4000" dirty="0"/>
              <a:t>Other Techniques: Experimental Analysis</a:t>
            </a:r>
          </a:p>
        </p:txBody>
      </p:sp>
    </p:spTree>
    <p:extLst>
      <p:ext uri="{BB962C8B-B14F-4D97-AF65-F5344CB8AC3E}">
        <p14:creationId xmlns:p14="http://schemas.microsoft.com/office/powerpoint/2010/main" val="1328689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268FC-E16A-CFFD-EE22-C906A92BC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22A98-95ED-0E75-AA7B-7CE34E874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99532"/>
            <a:ext cx="7671816" cy="819986"/>
          </a:xfrm>
          <a:noFill/>
        </p:spPr>
        <p:txBody>
          <a:bodyPr anchor="b" anchorCtr="0">
            <a:no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E1A949-770D-020E-3DBB-6935FC3FF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79DD17-0585-D34B-30F8-0FB73C69F829}"/>
              </a:ext>
            </a:extLst>
          </p:cNvPr>
          <p:cNvGrpSpPr/>
          <p:nvPr/>
        </p:nvGrpSpPr>
        <p:grpSpPr>
          <a:xfrm>
            <a:off x="1070517" y="1774382"/>
            <a:ext cx="4921405" cy="1174224"/>
            <a:chOff x="987998" y="2104236"/>
            <a:chExt cx="4480963" cy="1174224"/>
          </a:xfrm>
        </p:grpSpPr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CB1D4431-FBF3-4EFA-C463-64363C651AB7}"/>
                </a:ext>
              </a:extLst>
            </p:cNvPr>
            <p:cNvSpPr/>
            <p:nvPr/>
          </p:nvSpPr>
          <p:spPr>
            <a:xfrm>
              <a:off x="987998" y="2104236"/>
              <a:ext cx="4480963" cy="1114749"/>
            </a:xfrm>
            <a:prstGeom prst="rect">
              <a:avLst/>
            </a:prstGeom>
            <a:solidFill>
              <a:srgbClr val="1B2E4B"/>
            </a:solidFill>
            <a:ln w="12700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70174C5B-8AFC-A9EA-2125-B59B8C20BC2F}"/>
                </a:ext>
              </a:extLst>
            </p:cNvPr>
            <p:cNvSpPr/>
            <p:nvPr/>
          </p:nvSpPr>
          <p:spPr>
            <a:xfrm>
              <a:off x="1125158" y="2241396"/>
              <a:ext cx="457200" cy="411480"/>
            </a:xfrm>
            <a:prstGeom prst="rect">
              <a:avLst/>
            </a:prstGeom>
            <a:solidFill>
              <a:srgbClr val="0D9488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>
                <a:solidFill>
                  <a:srgbClr val="0D9488"/>
                </a:solidFill>
              </a:endParaRPr>
            </a:p>
          </p:txBody>
        </p:sp>
        <p:sp>
          <p:nvSpPr>
            <p:cNvPr id="11" name="Text 6">
              <a:extLst>
                <a:ext uri="{FF2B5EF4-FFF2-40B4-BE49-F238E27FC236}">
                  <a16:creationId xmlns:a16="http://schemas.microsoft.com/office/drawing/2014/main" id="{806CAF87-6E39-4995-391E-B694F2432FCA}"/>
                </a:ext>
              </a:extLst>
            </p:cNvPr>
            <p:cNvSpPr/>
            <p:nvPr/>
          </p:nvSpPr>
          <p:spPr>
            <a:xfrm>
              <a:off x="1125158" y="2241396"/>
              <a:ext cx="4572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chemeClr val="bg1"/>
                  </a:solidFill>
                </a:rPr>
                <a:t>01</a:t>
              </a:r>
              <a:endParaRPr lang="en-US" sz="130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24C64C24-7510-207E-4E9F-531D7A878A18}"/>
                </a:ext>
              </a:extLst>
            </p:cNvPr>
            <p:cNvSpPr/>
            <p:nvPr/>
          </p:nvSpPr>
          <p:spPr>
            <a:xfrm>
              <a:off x="1589633" y="2259983"/>
              <a:ext cx="3383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Unemployment is the strongest predictor</a:t>
              </a:r>
              <a:endParaRPr lang="en-US" sz="1200" dirty="0"/>
            </a:p>
          </p:txBody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AAB22E6E-3686-2512-8E1D-0A65E9AF448B}"/>
                </a:ext>
              </a:extLst>
            </p:cNvPr>
            <p:cNvSpPr/>
            <p:nvPr/>
          </p:nvSpPr>
          <p:spPr>
            <a:xfrm>
              <a:off x="1414434" y="2698597"/>
              <a:ext cx="3939457" cy="579863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CEDEA"/>
                  </a:solidFill>
                </a:rPr>
                <a:t>A 1% rise in the unemployment rate is associated with a $42,520 drop in weekly sales, the largest economic effect observed.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B3A90E3-8730-318D-4F03-4802C2F29573}"/>
              </a:ext>
            </a:extLst>
          </p:cNvPr>
          <p:cNvGrpSpPr/>
          <p:nvPr/>
        </p:nvGrpSpPr>
        <p:grpSpPr>
          <a:xfrm>
            <a:off x="1070516" y="3142414"/>
            <a:ext cx="4921405" cy="1174224"/>
            <a:chOff x="987998" y="2104236"/>
            <a:chExt cx="4480963" cy="1174224"/>
          </a:xfrm>
        </p:grpSpPr>
        <p:sp>
          <p:nvSpPr>
            <p:cNvPr id="25" name="Shape 4">
              <a:extLst>
                <a:ext uri="{FF2B5EF4-FFF2-40B4-BE49-F238E27FC236}">
                  <a16:creationId xmlns:a16="http://schemas.microsoft.com/office/drawing/2014/main" id="{3DA5C81A-66B0-4375-D1DC-6A49C513E10B}"/>
                </a:ext>
              </a:extLst>
            </p:cNvPr>
            <p:cNvSpPr/>
            <p:nvPr/>
          </p:nvSpPr>
          <p:spPr>
            <a:xfrm>
              <a:off x="987998" y="2104236"/>
              <a:ext cx="4480963" cy="1114749"/>
            </a:xfrm>
            <a:prstGeom prst="rect">
              <a:avLst/>
            </a:prstGeom>
            <a:solidFill>
              <a:srgbClr val="1B2E4B"/>
            </a:solidFill>
            <a:ln w="12700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26" name="Shape 5">
              <a:extLst>
                <a:ext uri="{FF2B5EF4-FFF2-40B4-BE49-F238E27FC236}">
                  <a16:creationId xmlns:a16="http://schemas.microsoft.com/office/drawing/2014/main" id="{6CAE71E4-01CE-B938-2A9F-8C9CC6025EEC}"/>
                </a:ext>
              </a:extLst>
            </p:cNvPr>
            <p:cNvSpPr/>
            <p:nvPr/>
          </p:nvSpPr>
          <p:spPr>
            <a:xfrm>
              <a:off x="1125158" y="2241396"/>
              <a:ext cx="457200" cy="411480"/>
            </a:xfrm>
            <a:prstGeom prst="rect">
              <a:avLst/>
            </a:prstGeom>
            <a:solidFill>
              <a:srgbClr val="0D9488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 dirty="0">
                <a:solidFill>
                  <a:srgbClr val="0D9488"/>
                </a:solidFill>
              </a:endParaRPr>
            </a:p>
          </p:txBody>
        </p:sp>
        <p:sp>
          <p:nvSpPr>
            <p:cNvPr id="27" name="Text 6">
              <a:extLst>
                <a:ext uri="{FF2B5EF4-FFF2-40B4-BE49-F238E27FC236}">
                  <a16:creationId xmlns:a16="http://schemas.microsoft.com/office/drawing/2014/main" id="{BAA63B9F-0510-35EF-F76D-28FC2FB0F872}"/>
                </a:ext>
              </a:extLst>
            </p:cNvPr>
            <p:cNvSpPr/>
            <p:nvPr/>
          </p:nvSpPr>
          <p:spPr>
            <a:xfrm>
              <a:off x="1125158" y="2241396"/>
              <a:ext cx="4572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chemeClr val="bg1"/>
                  </a:solidFill>
                </a:rPr>
                <a:t>02</a:t>
              </a:r>
              <a:endParaRPr lang="en-US" sz="13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5931600B-C584-3FB4-3AFF-925DB2386105}"/>
                </a:ext>
              </a:extLst>
            </p:cNvPr>
            <p:cNvSpPr/>
            <p:nvPr/>
          </p:nvSpPr>
          <p:spPr>
            <a:xfrm>
              <a:off x="1589633" y="2259983"/>
              <a:ext cx="3383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b="1" dirty="0">
                  <a:solidFill>
                    <a:srgbClr val="FFFFFF"/>
                  </a:solidFill>
                </a:rPr>
                <a:t>Holiday weeks significantly boost sales</a:t>
              </a:r>
              <a:endParaRPr lang="en-US" sz="1200" dirty="0"/>
            </a:p>
          </p:txBody>
        </p:sp>
        <p:sp>
          <p:nvSpPr>
            <p:cNvPr id="29" name="Text 8">
              <a:extLst>
                <a:ext uri="{FF2B5EF4-FFF2-40B4-BE49-F238E27FC236}">
                  <a16:creationId xmlns:a16="http://schemas.microsoft.com/office/drawing/2014/main" id="{0B2C7AC5-0360-274A-86DA-446C836F3CA6}"/>
                </a:ext>
              </a:extLst>
            </p:cNvPr>
            <p:cNvSpPr/>
            <p:nvPr/>
          </p:nvSpPr>
          <p:spPr>
            <a:xfrm>
              <a:off x="1414434" y="2698597"/>
              <a:ext cx="3939457" cy="579863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CCEDEA"/>
                  </a:solidFill>
                </a:rPr>
                <a:t>Holiday weeks generate $84,439 more in sales on average (p = 0.002), confirmed by both regression and Chi-Square test.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B6159BC-FB49-DFA9-E044-DA9F16309DFD}"/>
              </a:ext>
            </a:extLst>
          </p:cNvPr>
          <p:cNvGrpSpPr/>
          <p:nvPr/>
        </p:nvGrpSpPr>
        <p:grpSpPr>
          <a:xfrm>
            <a:off x="1070515" y="4510446"/>
            <a:ext cx="4921405" cy="1174224"/>
            <a:chOff x="987998" y="2104236"/>
            <a:chExt cx="4480963" cy="1174224"/>
          </a:xfrm>
        </p:grpSpPr>
        <p:sp>
          <p:nvSpPr>
            <p:cNvPr id="31" name="Shape 4">
              <a:extLst>
                <a:ext uri="{FF2B5EF4-FFF2-40B4-BE49-F238E27FC236}">
                  <a16:creationId xmlns:a16="http://schemas.microsoft.com/office/drawing/2014/main" id="{810A8445-4525-FF7E-E05E-F5BE95A7AACD}"/>
                </a:ext>
              </a:extLst>
            </p:cNvPr>
            <p:cNvSpPr/>
            <p:nvPr/>
          </p:nvSpPr>
          <p:spPr>
            <a:xfrm>
              <a:off x="987998" y="2104236"/>
              <a:ext cx="4480963" cy="1114749"/>
            </a:xfrm>
            <a:prstGeom prst="rect">
              <a:avLst/>
            </a:prstGeom>
            <a:solidFill>
              <a:srgbClr val="1B2E4B"/>
            </a:solidFill>
            <a:ln w="12700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2" name="Shape 5">
              <a:extLst>
                <a:ext uri="{FF2B5EF4-FFF2-40B4-BE49-F238E27FC236}">
                  <a16:creationId xmlns:a16="http://schemas.microsoft.com/office/drawing/2014/main" id="{81D83D69-BC38-8169-DAC2-435C0230E39D}"/>
                </a:ext>
              </a:extLst>
            </p:cNvPr>
            <p:cNvSpPr/>
            <p:nvPr/>
          </p:nvSpPr>
          <p:spPr>
            <a:xfrm>
              <a:off x="1125158" y="2241396"/>
              <a:ext cx="457200" cy="411480"/>
            </a:xfrm>
            <a:prstGeom prst="rect">
              <a:avLst/>
            </a:prstGeom>
            <a:solidFill>
              <a:srgbClr val="0D9488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 dirty="0">
                <a:solidFill>
                  <a:srgbClr val="0D9488"/>
                </a:solidFill>
              </a:endParaRPr>
            </a:p>
          </p:txBody>
        </p:sp>
        <p:sp>
          <p:nvSpPr>
            <p:cNvPr id="33" name="Text 6">
              <a:extLst>
                <a:ext uri="{FF2B5EF4-FFF2-40B4-BE49-F238E27FC236}">
                  <a16:creationId xmlns:a16="http://schemas.microsoft.com/office/drawing/2014/main" id="{FAEB5C8A-3AC1-D905-227E-33B88646E988}"/>
                </a:ext>
              </a:extLst>
            </p:cNvPr>
            <p:cNvSpPr/>
            <p:nvPr/>
          </p:nvSpPr>
          <p:spPr>
            <a:xfrm>
              <a:off x="1125158" y="2241396"/>
              <a:ext cx="4572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chemeClr val="bg1"/>
                  </a:solidFill>
                </a:rPr>
                <a:t>03</a:t>
              </a:r>
              <a:endParaRPr lang="en-US" sz="1300" dirty="0">
                <a:solidFill>
                  <a:schemeClr val="bg1"/>
                </a:solidFill>
              </a:endParaRPr>
            </a:p>
          </p:txBody>
        </p:sp>
        <p:sp>
          <p:nvSpPr>
            <p:cNvPr id="34" name="Text 7">
              <a:extLst>
                <a:ext uri="{FF2B5EF4-FFF2-40B4-BE49-F238E27FC236}">
                  <a16:creationId xmlns:a16="http://schemas.microsoft.com/office/drawing/2014/main" id="{83E46835-3E66-9784-32C0-F3B3C4EC77CA}"/>
                </a:ext>
              </a:extLst>
            </p:cNvPr>
            <p:cNvSpPr/>
            <p:nvPr/>
          </p:nvSpPr>
          <p:spPr>
            <a:xfrm>
              <a:off x="1589633" y="2259983"/>
              <a:ext cx="3383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b="1" dirty="0">
                  <a:solidFill>
                    <a:srgbClr val="FFFFFF"/>
                  </a:solidFill>
                </a:rPr>
                <a:t>Fuel Price and Temperature are not useful</a:t>
              </a:r>
              <a:endParaRPr lang="en-US" sz="1200" dirty="0"/>
            </a:p>
          </p:txBody>
        </p:sp>
        <p:sp>
          <p:nvSpPr>
            <p:cNvPr id="35" name="Text 8">
              <a:extLst>
                <a:ext uri="{FF2B5EF4-FFF2-40B4-BE49-F238E27FC236}">
                  <a16:creationId xmlns:a16="http://schemas.microsoft.com/office/drawing/2014/main" id="{CC269909-2F4B-94F9-B7AE-3ABD7A788C0E}"/>
                </a:ext>
              </a:extLst>
            </p:cNvPr>
            <p:cNvSpPr/>
            <p:nvPr/>
          </p:nvSpPr>
          <p:spPr>
            <a:xfrm>
              <a:off x="1414434" y="2698597"/>
              <a:ext cx="3939457" cy="579863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CCEDEA"/>
                  </a:solidFill>
                </a:rPr>
                <a:t>Neither variable was statistically significant. Removing them from Model 3 did not reduce accuracy.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C2E3245-A17B-C2C8-5AEA-948BE7A4984D}"/>
              </a:ext>
            </a:extLst>
          </p:cNvPr>
          <p:cNvGrpSpPr/>
          <p:nvPr/>
        </p:nvGrpSpPr>
        <p:grpSpPr>
          <a:xfrm>
            <a:off x="6333892" y="1771931"/>
            <a:ext cx="4921405" cy="1174224"/>
            <a:chOff x="987998" y="2104236"/>
            <a:chExt cx="4480963" cy="1174224"/>
          </a:xfrm>
        </p:grpSpPr>
        <p:sp>
          <p:nvSpPr>
            <p:cNvPr id="43" name="Shape 4">
              <a:extLst>
                <a:ext uri="{FF2B5EF4-FFF2-40B4-BE49-F238E27FC236}">
                  <a16:creationId xmlns:a16="http://schemas.microsoft.com/office/drawing/2014/main" id="{4B1AD48B-91A9-4842-2C58-7220826C62F1}"/>
                </a:ext>
              </a:extLst>
            </p:cNvPr>
            <p:cNvSpPr/>
            <p:nvPr/>
          </p:nvSpPr>
          <p:spPr>
            <a:xfrm>
              <a:off x="987998" y="2104236"/>
              <a:ext cx="4480963" cy="1114749"/>
            </a:xfrm>
            <a:prstGeom prst="rect">
              <a:avLst/>
            </a:prstGeom>
            <a:solidFill>
              <a:srgbClr val="1B2E4B"/>
            </a:solidFill>
            <a:ln w="12700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44" name="Shape 5">
              <a:extLst>
                <a:ext uri="{FF2B5EF4-FFF2-40B4-BE49-F238E27FC236}">
                  <a16:creationId xmlns:a16="http://schemas.microsoft.com/office/drawing/2014/main" id="{74FC10CF-C2D5-988E-4270-AB16453AD4DA}"/>
                </a:ext>
              </a:extLst>
            </p:cNvPr>
            <p:cNvSpPr/>
            <p:nvPr/>
          </p:nvSpPr>
          <p:spPr>
            <a:xfrm>
              <a:off x="1125158" y="2241396"/>
              <a:ext cx="457200" cy="411480"/>
            </a:xfrm>
            <a:prstGeom prst="rect">
              <a:avLst/>
            </a:prstGeom>
            <a:solidFill>
              <a:srgbClr val="0D9488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 dirty="0">
                <a:solidFill>
                  <a:srgbClr val="0D9488"/>
                </a:solidFill>
              </a:endParaRPr>
            </a:p>
          </p:txBody>
        </p:sp>
        <p:sp>
          <p:nvSpPr>
            <p:cNvPr id="45" name="Text 6">
              <a:extLst>
                <a:ext uri="{FF2B5EF4-FFF2-40B4-BE49-F238E27FC236}">
                  <a16:creationId xmlns:a16="http://schemas.microsoft.com/office/drawing/2014/main" id="{D94FC8C2-AF3F-3776-5F9F-A464B8ADA9F2}"/>
                </a:ext>
              </a:extLst>
            </p:cNvPr>
            <p:cNvSpPr/>
            <p:nvPr/>
          </p:nvSpPr>
          <p:spPr>
            <a:xfrm>
              <a:off x="1125158" y="2241396"/>
              <a:ext cx="4572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chemeClr val="bg1"/>
                  </a:solidFill>
                </a:rPr>
                <a:t>04</a:t>
              </a:r>
              <a:endParaRPr lang="en-US" sz="1300" dirty="0">
                <a:solidFill>
                  <a:schemeClr val="bg1"/>
                </a:solidFill>
              </a:endParaRPr>
            </a:p>
          </p:txBody>
        </p:sp>
        <p:sp>
          <p:nvSpPr>
            <p:cNvPr id="46" name="Text 7">
              <a:extLst>
                <a:ext uri="{FF2B5EF4-FFF2-40B4-BE49-F238E27FC236}">
                  <a16:creationId xmlns:a16="http://schemas.microsoft.com/office/drawing/2014/main" id="{F1C9F894-4057-2DEE-8EC9-131C9C5E2623}"/>
                </a:ext>
              </a:extLst>
            </p:cNvPr>
            <p:cNvSpPr/>
            <p:nvPr/>
          </p:nvSpPr>
          <p:spPr>
            <a:xfrm>
              <a:off x="1589633" y="2259983"/>
              <a:ext cx="3383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b="1" dirty="0">
                  <a:solidFill>
                    <a:srgbClr val="FFFFFF"/>
                  </a:solidFill>
                </a:rPr>
                <a:t>Macroeconomic factors have limited predictive power</a:t>
              </a:r>
              <a:endParaRPr lang="en-US" sz="1200" dirty="0"/>
            </a:p>
          </p:txBody>
        </p:sp>
        <p:sp>
          <p:nvSpPr>
            <p:cNvPr id="47" name="Text 8">
              <a:extLst>
                <a:ext uri="{FF2B5EF4-FFF2-40B4-BE49-F238E27FC236}">
                  <a16:creationId xmlns:a16="http://schemas.microsoft.com/office/drawing/2014/main" id="{90D00EEB-42AB-30CE-4D0B-2C3805A18868}"/>
                </a:ext>
              </a:extLst>
            </p:cNvPr>
            <p:cNvSpPr/>
            <p:nvPr/>
          </p:nvSpPr>
          <p:spPr>
            <a:xfrm>
              <a:off x="1414434" y="2698597"/>
              <a:ext cx="3939457" cy="579863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CCEDEA"/>
                  </a:solidFill>
                </a:rPr>
                <a:t>R² = 2.5%. Other factors like promotions, inventory, and store-specific effects likely explain most of the variation.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FC24583-ABFE-37E9-8ABA-74F6D5D5776F}"/>
              </a:ext>
            </a:extLst>
          </p:cNvPr>
          <p:cNvGrpSpPr/>
          <p:nvPr/>
        </p:nvGrpSpPr>
        <p:grpSpPr>
          <a:xfrm>
            <a:off x="6333892" y="3149663"/>
            <a:ext cx="4921405" cy="1174224"/>
            <a:chOff x="987998" y="2104236"/>
            <a:chExt cx="4480963" cy="1174224"/>
          </a:xfrm>
        </p:grpSpPr>
        <p:sp>
          <p:nvSpPr>
            <p:cNvPr id="49" name="Shape 4">
              <a:extLst>
                <a:ext uri="{FF2B5EF4-FFF2-40B4-BE49-F238E27FC236}">
                  <a16:creationId xmlns:a16="http://schemas.microsoft.com/office/drawing/2014/main" id="{4F22A928-95DE-D795-33A5-F537C746B77D}"/>
                </a:ext>
              </a:extLst>
            </p:cNvPr>
            <p:cNvSpPr/>
            <p:nvPr/>
          </p:nvSpPr>
          <p:spPr>
            <a:xfrm>
              <a:off x="987998" y="2104236"/>
              <a:ext cx="4480963" cy="1114749"/>
            </a:xfrm>
            <a:prstGeom prst="rect">
              <a:avLst/>
            </a:prstGeom>
            <a:solidFill>
              <a:srgbClr val="1B2E4B"/>
            </a:solidFill>
            <a:ln w="12700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50" name="Shape 5">
              <a:extLst>
                <a:ext uri="{FF2B5EF4-FFF2-40B4-BE49-F238E27FC236}">
                  <a16:creationId xmlns:a16="http://schemas.microsoft.com/office/drawing/2014/main" id="{AC5D3492-932D-3CDD-1620-7D4EFBA602FB}"/>
                </a:ext>
              </a:extLst>
            </p:cNvPr>
            <p:cNvSpPr/>
            <p:nvPr/>
          </p:nvSpPr>
          <p:spPr>
            <a:xfrm>
              <a:off x="1125158" y="2241396"/>
              <a:ext cx="457200" cy="411480"/>
            </a:xfrm>
            <a:prstGeom prst="rect">
              <a:avLst/>
            </a:prstGeom>
            <a:solidFill>
              <a:srgbClr val="0D9488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 dirty="0">
                <a:solidFill>
                  <a:srgbClr val="0D9488"/>
                </a:solidFill>
              </a:endParaRPr>
            </a:p>
          </p:txBody>
        </p:sp>
        <p:sp>
          <p:nvSpPr>
            <p:cNvPr id="51" name="Text 6">
              <a:extLst>
                <a:ext uri="{FF2B5EF4-FFF2-40B4-BE49-F238E27FC236}">
                  <a16:creationId xmlns:a16="http://schemas.microsoft.com/office/drawing/2014/main" id="{B350C972-F853-81FC-B23F-B83DD084E21F}"/>
                </a:ext>
              </a:extLst>
            </p:cNvPr>
            <p:cNvSpPr/>
            <p:nvPr/>
          </p:nvSpPr>
          <p:spPr>
            <a:xfrm>
              <a:off x="1125158" y="2241396"/>
              <a:ext cx="4572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chemeClr val="bg1"/>
                  </a:solidFill>
                </a:rPr>
                <a:t>0</a:t>
              </a:r>
              <a:r>
                <a:rPr lang="en-US" altLang="zh-CN" sz="1300" b="1" dirty="0">
                  <a:solidFill>
                    <a:schemeClr val="bg1"/>
                  </a:solidFill>
                </a:rPr>
                <a:t>5</a:t>
              </a:r>
              <a:endParaRPr lang="en-US" sz="1300" dirty="0">
                <a:solidFill>
                  <a:schemeClr val="bg1"/>
                </a:solidFill>
              </a:endParaRPr>
            </a:p>
          </p:txBody>
        </p:sp>
        <p:sp>
          <p:nvSpPr>
            <p:cNvPr id="52" name="Text 7">
              <a:extLst>
                <a:ext uri="{FF2B5EF4-FFF2-40B4-BE49-F238E27FC236}">
                  <a16:creationId xmlns:a16="http://schemas.microsoft.com/office/drawing/2014/main" id="{34C14D4E-C1DC-7CA9-9390-1C3CE5CBF4B5}"/>
                </a:ext>
              </a:extLst>
            </p:cNvPr>
            <p:cNvSpPr/>
            <p:nvPr/>
          </p:nvSpPr>
          <p:spPr>
            <a:xfrm>
              <a:off x="1589633" y="2259983"/>
              <a:ext cx="3383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b="1" dirty="0">
                  <a:solidFill>
                    <a:srgbClr val="FFFFFF"/>
                  </a:solidFill>
                </a:rPr>
                <a:t>ARIMA Forecasts Seasonal Stability</a:t>
              </a:r>
              <a:endParaRPr lang="en-US" sz="1200" dirty="0"/>
            </a:p>
          </p:txBody>
        </p:sp>
        <p:sp>
          <p:nvSpPr>
            <p:cNvPr id="53" name="Text 8">
              <a:extLst>
                <a:ext uri="{FF2B5EF4-FFF2-40B4-BE49-F238E27FC236}">
                  <a16:creationId xmlns:a16="http://schemas.microsoft.com/office/drawing/2014/main" id="{E377B97B-9F1A-92DF-A49A-ACF9D83C94CF}"/>
                </a:ext>
              </a:extLst>
            </p:cNvPr>
            <p:cNvSpPr/>
            <p:nvPr/>
          </p:nvSpPr>
          <p:spPr>
            <a:xfrm>
              <a:off x="1414434" y="2698597"/>
              <a:ext cx="3939457" cy="579863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CCEDEA"/>
                  </a:solidFill>
                </a:rPr>
                <a:t>Sales will remain ~$1,000,000 in early 2013, consistent with historical patterns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5777CB1-08DA-E2C8-34E3-F3FF400CEA5A}"/>
              </a:ext>
            </a:extLst>
          </p:cNvPr>
          <p:cNvGrpSpPr/>
          <p:nvPr/>
        </p:nvGrpSpPr>
        <p:grpSpPr>
          <a:xfrm>
            <a:off x="6333892" y="4515280"/>
            <a:ext cx="4921405" cy="1174224"/>
            <a:chOff x="987998" y="2104236"/>
            <a:chExt cx="4480963" cy="1174224"/>
          </a:xfrm>
        </p:grpSpPr>
        <p:sp>
          <p:nvSpPr>
            <p:cNvPr id="55" name="Shape 4">
              <a:extLst>
                <a:ext uri="{FF2B5EF4-FFF2-40B4-BE49-F238E27FC236}">
                  <a16:creationId xmlns:a16="http://schemas.microsoft.com/office/drawing/2014/main" id="{E2B99CC5-71AC-E654-7925-0A6B846465AA}"/>
                </a:ext>
              </a:extLst>
            </p:cNvPr>
            <p:cNvSpPr/>
            <p:nvPr/>
          </p:nvSpPr>
          <p:spPr>
            <a:xfrm>
              <a:off x="987998" y="2104236"/>
              <a:ext cx="4480963" cy="1114749"/>
            </a:xfrm>
            <a:prstGeom prst="rect">
              <a:avLst/>
            </a:prstGeom>
            <a:solidFill>
              <a:srgbClr val="1B2E4B"/>
            </a:solidFill>
            <a:ln w="12700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56" name="Shape 5">
              <a:extLst>
                <a:ext uri="{FF2B5EF4-FFF2-40B4-BE49-F238E27FC236}">
                  <a16:creationId xmlns:a16="http://schemas.microsoft.com/office/drawing/2014/main" id="{E1F8A147-66AD-CF69-6DF0-260A2E836B70}"/>
                </a:ext>
              </a:extLst>
            </p:cNvPr>
            <p:cNvSpPr/>
            <p:nvPr/>
          </p:nvSpPr>
          <p:spPr>
            <a:xfrm>
              <a:off x="1125158" y="2241396"/>
              <a:ext cx="457200" cy="411480"/>
            </a:xfrm>
            <a:prstGeom prst="rect">
              <a:avLst/>
            </a:prstGeom>
            <a:solidFill>
              <a:srgbClr val="0D9488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 dirty="0">
                <a:solidFill>
                  <a:srgbClr val="0D9488"/>
                </a:solidFill>
              </a:endParaRPr>
            </a:p>
          </p:txBody>
        </p:sp>
        <p:sp>
          <p:nvSpPr>
            <p:cNvPr id="57" name="Text 6">
              <a:extLst>
                <a:ext uri="{FF2B5EF4-FFF2-40B4-BE49-F238E27FC236}">
                  <a16:creationId xmlns:a16="http://schemas.microsoft.com/office/drawing/2014/main" id="{0A3AB421-A029-8CB7-375E-90BB288F2403}"/>
                </a:ext>
              </a:extLst>
            </p:cNvPr>
            <p:cNvSpPr/>
            <p:nvPr/>
          </p:nvSpPr>
          <p:spPr>
            <a:xfrm>
              <a:off x="1125158" y="2241396"/>
              <a:ext cx="4572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chemeClr val="bg1"/>
                  </a:solidFill>
                </a:rPr>
                <a:t>0</a:t>
              </a:r>
              <a:r>
                <a:rPr lang="en-US" altLang="zh-CN" sz="1300" b="1" dirty="0">
                  <a:solidFill>
                    <a:schemeClr val="bg1"/>
                  </a:solidFill>
                </a:rPr>
                <a:t>6</a:t>
              </a:r>
              <a:endParaRPr lang="en-US" sz="1300" dirty="0">
                <a:solidFill>
                  <a:schemeClr val="bg1"/>
                </a:solidFill>
              </a:endParaRPr>
            </a:p>
          </p:txBody>
        </p:sp>
        <p:sp>
          <p:nvSpPr>
            <p:cNvPr id="58" name="Text 7">
              <a:extLst>
                <a:ext uri="{FF2B5EF4-FFF2-40B4-BE49-F238E27FC236}">
                  <a16:creationId xmlns:a16="http://schemas.microsoft.com/office/drawing/2014/main" id="{1F2E0F99-D09D-F5A8-0520-EA8899EB1D13}"/>
                </a:ext>
              </a:extLst>
            </p:cNvPr>
            <p:cNvSpPr/>
            <p:nvPr/>
          </p:nvSpPr>
          <p:spPr>
            <a:xfrm>
              <a:off x="1589633" y="2259983"/>
              <a:ext cx="3383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b="1" dirty="0">
                  <a:solidFill>
                    <a:srgbClr val="FFC208"/>
                  </a:solidFill>
                </a:rPr>
                <a:t>Best Model</a:t>
              </a:r>
              <a:r>
                <a:rPr lang="zh-CN" altLang="en-US" sz="1200" b="1" dirty="0">
                  <a:solidFill>
                    <a:srgbClr val="FFC208"/>
                  </a:solidFill>
                </a:rPr>
                <a:t>： </a:t>
              </a:r>
              <a:r>
                <a:rPr lang="en-US" altLang="zh-CN" sz="1200" b="1" dirty="0">
                  <a:solidFill>
                    <a:srgbClr val="FFC208"/>
                  </a:solidFill>
                </a:rPr>
                <a:t>Model 3</a:t>
              </a:r>
              <a:endParaRPr lang="en-US" sz="1200" dirty="0">
                <a:solidFill>
                  <a:srgbClr val="FFC208"/>
                </a:solidFill>
              </a:endParaRPr>
            </a:p>
          </p:txBody>
        </p:sp>
        <p:sp>
          <p:nvSpPr>
            <p:cNvPr id="59" name="Text 8">
              <a:extLst>
                <a:ext uri="{FF2B5EF4-FFF2-40B4-BE49-F238E27FC236}">
                  <a16:creationId xmlns:a16="http://schemas.microsoft.com/office/drawing/2014/main" id="{E9F1123A-906E-5ABB-F963-BD9B27E7A188}"/>
                </a:ext>
              </a:extLst>
            </p:cNvPr>
            <p:cNvSpPr/>
            <p:nvPr/>
          </p:nvSpPr>
          <p:spPr>
            <a:xfrm>
              <a:off x="1414434" y="2698597"/>
              <a:ext cx="3939457" cy="579863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100" dirty="0">
                  <a:solidFill>
                    <a:srgbClr val="FFC208"/>
                  </a:solidFill>
                </a:rPr>
                <a:t>Variables: CPI + Unemployment + Holiday Flag R² = 2.48% | RMSE = $557,302 | AIC = 188,524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4264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CEC29-2F05-D7E4-A266-08C74BE4F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962" y="1482668"/>
            <a:ext cx="4441188" cy="440652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867EED95-1785-2CFF-AB72-C7852C4B1E15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 l="30948" t="424" r="11082" b="-424"/>
          <a:stretch>
            <a:fillRect/>
          </a:stretch>
        </p:blipFill>
        <p:spPr>
          <a:xfrm>
            <a:off x="914400" y="539496"/>
            <a:ext cx="5025207" cy="5779008"/>
          </a:xfrm>
        </p:spPr>
      </p:pic>
    </p:spTree>
    <p:extLst>
      <p:ext uri="{BB962C8B-B14F-4D97-AF65-F5344CB8AC3E}">
        <p14:creationId xmlns:p14="http://schemas.microsoft.com/office/powerpoint/2010/main" val="114822798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642</TotalTime>
  <Words>1717</Words>
  <Application>Microsoft Macintosh PowerPoint</Application>
  <PresentationFormat>Widescreen</PresentationFormat>
  <Paragraphs>194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等线</vt:lpstr>
      <vt:lpstr>Posterama Text SemiBold</vt:lpstr>
      <vt:lpstr>Abadi</vt:lpstr>
      <vt:lpstr>Arial</vt:lpstr>
      <vt:lpstr>Calibri</vt:lpstr>
      <vt:lpstr>Posterama</vt:lpstr>
      <vt:lpstr>Custom</vt:lpstr>
      <vt:lpstr>Walmart Retail Sales Performance </vt:lpstr>
      <vt:lpstr>Research Goal</vt:lpstr>
      <vt:lpstr>Introduction</vt:lpstr>
      <vt:lpstr>Data Overview and Cleaning</vt:lpstr>
      <vt:lpstr>The Variables</vt:lpstr>
      <vt:lpstr>Association Analysis: Visualizations</vt:lpstr>
      <vt:lpstr>Association Analysis: Visualizations</vt:lpstr>
      <vt:lpstr>Association Analysis: Visualizations</vt:lpstr>
      <vt:lpstr>Association Analysis: Visualizations</vt:lpstr>
      <vt:lpstr>Association Analysis: Visualizations</vt:lpstr>
      <vt:lpstr>Regression Model 1 - 3</vt:lpstr>
      <vt:lpstr>Regression Model 3</vt:lpstr>
      <vt:lpstr>Other Techniques: Experimental Analysis</vt:lpstr>
      <vt:lpstr>Other Techniques: Experimental Analysis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XIXI.LIN1</dc:creator>
  <cp:lastModifiedBy>XIXI.LIN1</cp:lastModifiedBy>
  <cp:revision>29</cp:revision>
  <dcterms:created xsi:type="dcterms:W3CDTF">2026-05-04T20:57:17Z</dcterms:created>
  <dcterms:modified xsi:type="dcterms:W3CDTF">2026-05-06T23:29:23Z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